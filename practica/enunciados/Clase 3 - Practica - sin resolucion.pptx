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3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5143500" type="screen16x9"/>
  <p:notesSz cx="6858000" cy="9144000"/>
  <p:embeddedFontLst>
    <p:embeddedFont>
      <p:font typeface="PT Sans" panose="020B0604020202020204" charset="0"/>
      <p:regular r:id="rId25"/>
      <p:bold r:id="rId26"/>
      <p:italic r:id="rId27"/>
      <p:boldItalic r:id="rId28"/>
    </p:embeddedFont>
    <p:embeddedFont>
      <p:font typeface="Quantico" panose="020B0604020202020204" charset="0"/>
      <p:regular r:id="rId29"/>
      <p:bold r:id="rId30"/>
      <p:italic r:id="rId31"/>
      <p:boldItalic r:id="rId32"/>
    </p:embeddedFont>
    <p:embeddedFont>
      <p:font typeface="Source Code Pro" panose="020B0604020202020204" charset="0"/>
      <p:regular r:id="rId33"/>
      <p:bold r:id="rId34"/>
      <p:italic r:id="rId35"/>
      <p:boldItalic r:id="rId36"/>
    </p:embeddedFont>
    <p:embeddedFont>
      <p:font typeface="Fira Sans Extra Condensed" panose="020B0604020202020204" charset="0"/>
      <p:regular r:id="rId37"/>
      <p:bold r:id="rId38"/>
      <p:italic r:id="rId39"/>
      <p:boldItalic r:id="rId40"/>
    </p:embeddedFont>
    <p:embeddedFont>
      <p:font typeface="Denk One" panose="020B0604020202020204" charset="0"/>
      <p:regular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8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424d02dd6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2424d02dd6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1f30c3009d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1f30c3009d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d1541d378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d1541d378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2424d02dd6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2424d02dd6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2424d02dd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2424d02dd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2424d02dd6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2424d02dd6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2424d02dd6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2424d02dd6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2424d02dd6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2424d02dd6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2424d02dd6_0_1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2424d02dd6_0_1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2424d02dd6_0_10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2424d02dd6_0_10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2424d02dd6_0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22424d02dd6_0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2424d02dd6_0_1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2424d02dd6_0_1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2424d02dd6_0_1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2424d02dd6_0_1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2424d02dd6_0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2424d02dd6_0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2424d02dd6_0_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2424d02dd6_0_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2424d02dd6_0_1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2424d02dd6_0_1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2424d02dd6_0_1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2424d02dd6_0_1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2424d02dd6_0_1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2424d02dd6_0_1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2424d02dd6_0_1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2424d02dd6_0_1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2424d02dd6_0_1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22424d02dd6_0_1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2424d02dd6_0_1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2424d02dd6_0_1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89400" y="1309975"/>
            <a:ext cx="4148400" cy="16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169200" y="3772200"/>
            <a:ext cx="30438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590076" y="1551675"/>
            <a:ext cx="22251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2" name="Google Shape;22;p4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238200"/>
            <a:ext cx="77040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9" name="Google Shape;29;p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39" name="Google Shape;39;p6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45" name="Google Shape;45;p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3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3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3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3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3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300"/>
            </a:lvl9pPr>
          </a:lstStyle>
          <a:p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2" name="Google Shape;52;p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58" name="Google Shape;58;p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65" name="Google Shape;65;p1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1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 hasCustomPrompt="1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78" name="Google Shape;78;p1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1114016" y="18797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1113997" y="1269525"/>
            <a:ext cx="1298700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ctrTitle" idx="3"/>
          </p:nvPr>
        </p:nvSpPr>
        <p:spPr>
          <a:xfrm>
            <a:off x="1114008" y="28928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4" hasCustomPrompt="1"/>
          </p:nvPr>
        </p:nvSpPr>
        <p:spPr>
          <a:xfrm>
            <a:off x="1113997" y="2283824"/>
            <a:ext cx="1298700" cy="6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 idx="5"/>
          </p:nvPr>
        </p:nvSpPr>
        <p:spPr>
          <a:xfrm>
            <a:off x="1114107" y="3908761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6" hasCustomPrompt="1"/>
          </p:nvPr>
        </p:nvSpPr>
        <p:spPr>
          <a:xfrm>
            <a:off x="1113998" y="3298125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7" hasCustomPrompt="1"/>
          </p:nvPr>
        </p:nvSpPr>
        <p:spPr>
          <a:xfrm>
            <a:off x="4965997" y="1270125"/>
            <a:ext cx="1298700" cy="60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 idx="8"/>
          </p:nvPr>
        </p:nvSpPr>
        <p:spPr>
          <a:xfrm>
            <a:off x="4966007" y="1879725"/>
            <a:ext cx="30651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ctrTitle" idx="13"/>
          </p:nvPr>
        </p:nvSpPr>
        <p:spPr>
          <a:xfrm>
            <a:off x="4966007" y="2892814"/>
            <a:ext cx="30651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4965997" y="2283824"/>
            <a:ext cx="1298700" cy="6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4965997" y="3298125"/>
            <a:ext cx="1298700" cy="60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 b="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 idx="16"/>
          </p:nvPr>
        </p:nvSpPr>
        <p:spPr>
          <a:xfrm>
            <a:off x="4966007" y="3908750"/>
            <a:ext cx="30651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Denk One"/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  <a:sym typeface="Denk On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4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96" name="Google Shape;96;p14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20000" y="1355450"/>
            <a:ext cx="3453900" cy="16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5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03" name="Google Shape;103;p15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" name="Google Shape;105;p1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720000" y="1357275"/>
            <a:ext cx="4209600" cy="24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naheim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6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10" name="Google Shape;110;p16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720000" y="1448625"/>
            <a:ext cx="22572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ubTitle" idx="1"/>
          </p:nvPr>
        </p:nvSpPr>
        <p:spPr>
          <a:xfrm>
            <a:off x="720176" y="1807975"/>
            <a:ext cx="2257200" cy="20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title" idx="2"/>
          </p:nvPr>
        </p:nvSpPr>
        <p:spPr>
          <a:xfrm>
            <a:off x="3491775" y="1448625"/>
            <a:ext cx="2257500" cy="3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ubTitle" idx="3"/>
          </p:nvPr>
        </p:nvSpPr>
        <p:spPr>
          <a:xfrm>
            <a:off x="3491950" y="1807325"/>
            <a:ext cx="2257500" cy="20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 idx="4"/>
          </p:nvPr>
        </p:nvSpPr>
        <p:spPr>
          <a:xfrm>
            <a:off x="6162250" y="1448625"/>
            <a:ext cx="2257500" cy="3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5"/>
          </p:nvPr>
        </p:nvSpPr>
        <p:spPr>
          <a:xfrm>
            <a:off x="6162250" y="1808000"/>
            <a:ext cx="2257500" cy="20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title" idx="6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7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22" name="Google Shape;122;p17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717350" y="1295950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1"/>
          </p:nvPr>
        </p:nvSpPr>
        <p:spPr>
          <a:xfrm>
            <a:off x="717350" y="1651849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 idx="2"/>
          </p:nvPr>
        </p:nvSpPr>
        <p:spPr>
          <a:xfrm>
            <a:off x="4691091" y="1295950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3"/>
          </p:nvPr>
        </p:nvSpPr>
        <p:spPr>
          <a:xfrm>
            <a:off x="4691095" y="1651851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 idx="4"/>
          </p:nvPr>
        </p:nvSpPr>
        <p:spPr>
          <a:xfrm>
            <a:off x="717350" y="2865407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5"/>
          </p:nvPr>
        </p:nvSpPr>
        <p:spPr>
          <a:xfrm>
            <a:off x="717350" y="3220675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6"/>
          </p:nvPr>
        </p:nvSpPr>
        <p:spPr>
          <a:xfrm>
            <a:off x="4691091" y="2865413"/>
            <a:ext cx="3728400" cy="40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7"/>
          </p:nvPr>
        </p:nvSpPr>
        <p:spPr>
          <a:xfrm>
            <a:off x="4691095" y="3220676"/>
            <a:ext cx="3728400" cy="10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title" idx="8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36" name="Google Shape;136;p1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724350" y="953007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ubTitle" idx="1"/>
          </p:nvPr>
        </p:nvSpPr>
        <p:spPr>
          <a:xfrm>
            <a:off x="724350" y="1650487"/>
            <a:ext cx="2563200" cy="10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title" idx="2"/>
          </p:nvPr>
        </p:nvSpPr>
        <p:spPr>
          <a:xfrm>
            <a:off x="3290800" y="961215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ubTitle" idx="3"/>
          </p:nvPr>
        </p:nvSpPr>
        <p:spPr>
          <a:xfrm>
            <a:off x="3290800" y="1650487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title" idx="4"/>
          </p:nvPr>
        </p:nvSpPr>
        <p:spPr>
          <a:xfrm>
            <a:off x="724350" y="2741296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ubTitle" idx="5"/>
          </p:nvPr>
        </p:nvSpPr>
        <p:spPr>
          <a:xfrm>
            <a:off x="724350" y="3436046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title" idx="6"/>
          </p:nvPr>
        </p:nvSpPr>
        <p:spPr>
          <a:xfrm>
            <a:off x="3290793" y="2741302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subTitle" idx="7"/>
          </p:nvPr>
        </p:nvSpPr>
        <p:spPr>
          <a:xfrm>
            <a:off x="3290793" y="3436048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title" idx="8"/>
          </p:nvPr>
        </p:nvSpPr>
        <p:spPr>
          <a:xfrm>
            <a:off x="5852375" y="961215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subTitle" idx="9"/>
          </p:nvPr>
        </p:nvSpPr>
        <p:spPr>
          <a:xfrm>
            <a:off x="5852377" y="1650487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title" idx="13"/>
          </p:nvPr>
        </p:nvSpPr>
        <p:spPr>
          <a:xfrm>
            <a:off x="5852375" y="2741298"/>
            <a:ext cx="2563200" cy="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subTitle" idx="14"/>
          </p:nvPr>
        </p:nvSpPr>
        <p:spPr>
          <a:xfrm>
            <a:off x="5852378" y="3436047"/>
            <a:ext cx="2563200" cy="10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title" idx="15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9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54" name="Google Shape;154;p19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19"/>
          <p:cNvSpPr txBox="1">
            <a:spLocks noGrp="1"/>
          </p:cNvSpPr>
          <p:nvPr>
            <p:ph type="title" hasCustomPrompt="1"/>
          </p:nvPr>
        </p:nvSpPr>
        <p:spPr>
          <a:xfrm>
            <a:off x="1252403" y="1022536"/>
            <a:ext cx="4190700" cy="7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7" name="Google Shape;157;p19"/>
          <p:cNvSpPr txBox="1">
            <a:spLocks noGrp="1"/>
          </p:cNvSpPr>
          <p:nvPr>
            <p:ph type="subTitle" idx="1"/>
          </p:nvPr>
        </p:nvSpPr>
        <p:spPr>
          <a:xfrm>
            <a:off x="1252403" y="1620161"/>
            <a:ext cx="4190700" cy="38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title" idx="2" hasCustomPrompt="1"/>
          </p:nvPr>
        </p:nvSpPr>
        <p:spPr>
          <a:xfrm>
            <a:off x="1252403" y="2080661"/>
            <a:ext cx="4190700" cy="7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9" name="Google Shape;159;p19"/>
          <p:cNvSpPr txBox="1">
            <a:spLocks noGrp="1"/>
          </p:cNvSpPr>
          <p:nvPr>
            <p:ph type="subTitle" idx="3"/>
          </p:nvPr>
        </p:nvSpPr>
        <p:spPr>
          <a:xfrm>
            <a:off x="1252403" y="2678261"/>
            <a:ext cx="4190700" cy="38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title" idx="4" hasCustomPrompt="1"/>
          </p:nvPr>
        </p:nvSpPr>
        <p:spPr>
          <a:xfrm>
            <a:off x="1252404" y="3138786"/>
            <a:ext cx="4190700" cy="7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5"/>
          </p:nvPr>
        </p:nvSpPr>
        <p:spPr>
          <a:xfrm>
            <a:off x="1252404" y="3736386"/>
            <a:ext cx="4190700" cy="384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T Sans"/>
              <a:buNone/>
              <a:defRPr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65" name="Google Shape;165;p2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1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71" name="Google Shape;171;p21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21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74" name="Google Shape;174;p21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21"/>
          <p:cNvSpPr txBox="1">
            <a:spLocks noGrp="1"/>
          </p:cNvSpPr>
          <p:nvPr>
            <p:ph type="ctrTitle"/>
          </p:nvPr>
        </p:nvSpPr>
        <p:spPr>
          <a:xfrm>
            <a:off x="1697375" y="1229575"/>
            <a:ext cx="3294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"/>
          </p:nvPr>
        </p:nvSpPr>
        <p:spPr>
          <a:xfrm>
            <a:off x="1697375" y="2291627"/>
            <a:ext cx="32946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5017075" y="3285800"/>
            <a:ext cx="32946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000" b="1" u="sng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2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184" name="Google Shape;184;p22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4924175" y="2984325"/>
            <a:ext cx="3447300" cy="1584600"/>
            <a:chOff x="4924175" y="3441525"/>
            <a:chExt cx="3447300" cy="1584600"/>
          </a:xfrm>
        </p:grpSpPr>
        <p:sp>
          <p:nvSpPr>
            <p:cNvPr id="187" name="Google Shape;187;p22"/>
            <p:cNvSpPr/>
            <p:nvPr/>
          </p:nvSpPr>
          <p:spPr>
            <a:xfrm>
              <a:off x="4924175" y="3441525"/>
              <a:ext cx="3447300" cy="1584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190" name="Google Shape;190;p22"/>
          <p:cNvGrpSpPr/>
          <p:nvPr/>
        </p:nvGrpSpPr>
        <p:grpSpPr>
          <a:xfrm>
            <a:off x="11575" y="0"/>
            <a:ext cx="9132325" cy="414900"/>
            <a:chOff x="11575" y="0"/>
            <a:chExt cx="9132325" cy="414900"/>
          </a:xfrm>
        </p:grpSpPr>
        <p:sp>
          <p:nvSpPr>
            <p:cNvPr id="191" name="Google Shape;191;p22"/>
            <p:cNvSpPr/>
            <p:nvPr/>
          </p:nvSpPr>
          <p:spPr>
            <a:xfrm>
              <a:off x="11575" y="0"/>
              <a:ext cx="3048600" cy="41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3059300" y="0"/>
              <a:ext cx="6084600" cy="41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195" name="Google Shape;195;p2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7" name="Google Shape;197;p2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-100" y="0"/>
            <a:ext cx="91440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5"/>
          <p:cNvSpPr txBox="1">
            <a:spLocks noGrp="1"/>
          </p:cNvSpPr>
          <p:nvPr>
            <p:ph type="ctrTitle"/>
          </p:nvPr>
        </p:nvSpPr>
        <p:spPr>
          <a:xfrm>
            <a:off x="2062200" y="1289175"/>
            <a:ext cx="5019600" cy="180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4" name="Google Shape;204;p25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1186988" y="1906688"/>
            <a:ext cx="39435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8" name="Google Shape;208;p26"/>
          <p:cNvSpPr txBox="1">
            <a:spLocks noGrp="1"/>
          </p:cNvSpPr>
          <p:nvPr>
            <p:ph type="title" idx="2" hasCustomPrompt="1"/>
          </p:nvPr>
        </p:nvSpPr>
        <p:spPr>
          <a:xfrm>
            <a:off x="5731913" y="1906688"/>
            <a:ext cx="22251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9" name="Google Shape;209;p26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9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7"/>
          <p:cNvSpPr txBox="1">
            <a:spLocks noGrp="1"/>
          </p:cNvSpPr>
          <p:nvPr>
            <p:ph type="body" idx="1"/>
          </p:nvPr>
        </p:nvSpPr>
        <p:spPr>
          <a:xfrm>
            <a:off x="720000" y="1809700"/>
            <a:ext cx="7704000" cy="2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15" name="Google Shape;215;p27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8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18" name="Google Shape;218;p28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" name="Google Shape;220;p28"/>
          <p:cNvSpPr txBox="1">
            <a:spLocks noGrp="1"/>
          </p:cNvSpPr>
          <p:nvPr>
            <p:ph type="subTitle" idx="1"/>
          </p:nvPr>
        </p:nvSpPr>
        <p:spPr>
          <a:xfrm>
            <a:off x="807625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subTitle" idx="2"/>
          </p:nvPr>
        </p:nvSpPr>
        <p:spPr>
          <a:xfrm>
            <a:off x="4922022" y="2775700"/>
            <a:ext cx="3415800" cy="14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8"/>
          <p:cNvSpPr txBox="1">
            <a:spLocks noGrp="1"/>
          </p:cNvSpPr>
          <p:nvPr>
            <p:ph type="subTitle" idx="3"/>
          </p:nvPr>
        </p:nvSpPr>
        <p:spPr>
          <a:xfrm>
            <a:off x="807630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3" name="Google Shape;223;p28"/>
          <p:cNvSpPr txBox="1">
            <a:spLocks noGrp="1"/>
          </p:cNvSpPr>
          <p:nvPr>
            <p:ph type="subTitle" idx="4"/>
          </p:nvPr>
        </p:nvSpPr>
        <p:spPr>
          <a:xfrm>
            <a:off x="4922022" y="2403350"/>
            <a:ext cx="3415800" cy="42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latin typeface="Quantico"/>
                <a:ea typeface="Quantico"/>
                <a:cs typeface="Quantico"/>
                <a:sym typeface="Quantic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Quantico"/>
              <a:buNone/>
              <a:def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30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30" name="Google Shape;230;p30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" name="Google Shape;232;p30"/>
          <p:cNvSpPr txBox="1">
            <a:spLocks noGrp="1"/>
          </p:cNvSpPr>
          <p:nvPr>
            <p:ph type="title"/>
          </p:nvPr>
        </p:nvSpPr>
        <p:spPr>
          <a:xfrm>
            <a:off x="720000" y="475500"/>
            <a:ext cx="77040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body" idx="1"/>
          </p:nvPr>
        </p:nvSpPr>
        <p:spPr>
          <a:xfrm>
            <a:off x="720000" y="1244275"/>
            <a:ext cx="3692400" cy="29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1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37" name="Google Shape;237;p31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31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0" name="Google Shape;240;p31"/>
          <p:cNvSpPr txBox="1">
            <a:spLocks noGrp="1"/>
          </p:cNvSpPr>
          <p:nvPr>
            <p:ph type="title"/>
          </p:nvPr>
        </p:nvSpPr>
        <p:spPr>
          <a:xfrm>
            <a:off x="2801700" y="1918054"/>
            <a:ext cx="5622300" cy="247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32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43" name="Google Shape;243;p32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" name="Google Shape;245;p32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46" name="Google Shape;246;p32"/>
          <p:cNvSpPr txBox="1">
            <a:spLocks noGrp="1"/>
          </p:cNvSpPr>
          <p:nvPr>
            <p:ph type="title"/>
          </p:nvPr>
        </p:nvSpPr>
        <p:spPr>
          <a:xfrm rot="515">
            <a:off x="2406900" y="1623064"/>
            <a:ext cx="60066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subTitle" idx="1"/>
          </p:nvPr>
        </p:nvSpPr>
        <p:spPr>
          <a:xfrm>
            <a:off x="3658200" y="2303046"/>
            <a:ext cx="4755300" cy="1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33"/>
          <p:cNvGrpSpPr/>
          <p:nvPr/>
        </p:nvGrpSpPr>
        <p:grpSpPr>
          <a:xfrm>
            <a:off x="396500" y="170424"/>
            <a:ext cx="8360126" cy="4398447"/>
            <a:chOff x="1054783" y="1029605"/>
            <a:chExt cx="7587010" cy="3902100"/>
          </a:xfrm>
        </p:grpSpPr>
        <p:sp>
          <p:nvSpPr>
            <p:cNvPr id="250" name="Google Shape;250;p33"/>
            <p:cNvSpPr/>
            <p:nvPr/>
          </p:nvSpPr>
          <p:spPr>
            <a:xfrm>
              <a:off x="1054793" y="1029605"/>
              <a:ext cx="7587000" cy="39021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3"/>
            <p:cNvSpPr/>
            <p:nvPr/>
          </p:nvSpPr>
          <p:spPr>
            <a:xfrm>
              <a:off x="1054783" y="1029605"/>
              <a:ext cx="7587000" cy="226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33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53" name="Google Shape;253;p33"/>
          <p:cNvSpPr txBox="1">
            <a:spLocks noGrp="1"/>
          </p:cNvSpPr>
          <p:nvPr>
            <p:ph type="title"/>
          </p:nvPr>
        </p:nvSpPr>
        <p:spPr>
          <a:xfrm>
            <a:off x="720000" y="2233875"/>
            <a:ext cx="7704000" cy="615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>
            <a:spLocks noGrp="1"/>
          </p:cNvSpPr>
          <p:nvPr>
            <p:ph type="title" hasCustomPrompt="1"/>
          </p:nvPr>
        </p:nvSpPr>
        <p:spPr>
          <a:xfrm>
            <a:off x="3030250" y="1291525"/>
            <a:ext cx="4711500" cy="11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6" name="Google Shape;256;p34"/>
          <p:cNvSpPr txBox="1">
            <a:spLocks noGrp="1"/>
          </p:cNvSpPr>
          <p:nvPr>
            <p:ph type="subTitle" idx="1"/>
          </p:nvPr>
        </p:nvSpPr>
        <p:spPr>
          <a:xfrm>
            <a:off x="4173275" y="3581850"/>
            <a:ext cx="3169800" cy="6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257" name="Google Shape;257;p34"/>
          <p:cNvSpPr txBox="1"/>
          <p:nvPr/>
        </p:nvSpPr>
        <p:spPr>
          <a:xfrm>
            <a:off x="344300" y="4753684"/>
            <a:ext cx="84786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1 0 1 1   0 1 1   0 1   1 0 1 1 0 0 1   1 0   1 1 0 1 1   0 1 1   0 1   1 1 0 1 1 0   1 1 0 1 1 1   1 1 0 1 </a:t>
            </a:r>
            <a:endParaRPr sz="1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11575" y="0"/>
            <a:ext cx="3048600" cy="4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4"/>
          <p:cNvSpPr/>
          <p:nvPr/>
        </p:nvSpPr>
        <p:spPr>
          <a:xfrm>
            <a:off x="3059300" y="0"/>
            <a:ext cx="6084600" cy="414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3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63" name="Google Shape;263;p3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" name="Google Shape;281;p36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82" name="Google Shape;282;p36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3" name="Google Shape;28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284" name="Google Shape;284;p36">
            <a:hlinkClick r:id="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6">
            <a:hlinkClick r:id="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6">
            <a:hlinkClick r:id="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6">
            <a:hlinkClick r:id="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ntico"/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ource Code Pro"/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37"/>
          <p:cNvGrpSpPr/>
          <p:nvPr/>
        </p:nvGrpSpPr>
        <p:grpSpPr>
          <a:xfrm>
            <a:off x="1282950" y="650425"/>
            <a:ext cx="6578100" cy="3438300"/>
            <a:chOff x="772525" y="726625"/>
            <a:chExt cx="6578100" cy="3438300"/>
          </a:xfrm>
        </p:grpSpPr>
        <p:sp>
          <p:nvSpPr>
            <p:cNvPr id="293" name="Google Shape;293;p37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7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37"/>
          <p:cNvGrpSpPr/>
          <p:nvPr/>
        </p:nvGrpSpPr>
        <p:grpSpPr>
          <a:xfrm>
            <a:off x="2848350" y="3365325"/>
            <a:ext cx="3447300" cy="962400"/>
            <a:chOff x="4924175" y="3441525"/>
            <a:chExt cx="3447300" cy="962400"/>
          </a:xfrm>
        </p:grpSpPr>
        <p:sp>
          <p:nvSpPr>
            <p:cNvPr id="296" name="Google Shape;296;p37"/>
            <p:cNvSpPr/>
            <p:nvPr/>
          </p:nvSpPr>
          <p:spPr>
            <a:xfrm>
              <a:off x="4924175" y="3441525"/>
              <a:ext cx="3447300" cy="962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7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" name="Google Shape;298;p37"/>
          <p:cNvSpPr txBox="1"/>
          <p:nvPr/>
        </p:nvSpPr>
        <p:spPr>
          <a:xfrm>
            <a:off x="1414871" y="1639888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rPr>
              <a:t>&lt;</a:t>
            </a:r>
            <a:endParaRPr sz="3600">
              <a:solidFill>
                <a:schemeClr val="accent2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7020763" y="2493275"/>
            <a:ext cx="702900" cy="6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/&gt;</a:t>
            </a:r>
            <a:endParaRPr sz="36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0" name="Google Shape;300;p37"/>
          <p:cNvSpPr txBox="1">
            <a:spLocks noGrp="1"/>
          </p:cNvSpPr>
          <p:nvPr>
            <p:ph type="ctrTitle"/>
          </p:nvPr>
        </p:nvSpPr>
        <p:spPr>
          <a:xfrm>
            <a:off x="2062200" y="1662575"/>
            <a:ext cx="5019600" cy="12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Paradigmas de Programación</a:t>
            </a:r>
            <a:endParaRPr sz="3900">
              <a:solidFill>
                <a:schemeClr val="accent2"/>
              </a:solidFill>
            </a:endParaRPr>
          </a:p>
        </p:txBody>
      </p:sp>
      <p:sp>
        <p:nvSpPr>
          <p:cNvPr id="301" name="Google Shape;301;p37"/>
          <p:cNvSpPr txBox="1">
            <a:spLocks noGrp="1"/>
          </p:cNvSpPr>
          <p:nvPr>
            <p:ph type="subTitle" idx="1"/>
          </p:nvPr>
        </p:nvSpPr>
        <p:spPr>
          <a:xfrm>
            <a:off x="3050100" y="3617700"/>
            <a:ext cx="3043800" cy="7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3</a:t>
            </a:r>
            <a:endParaRPr/>
          </a:p>
        </p:txBody>
      </p:sp>
      <p:grpSp>
        <p:nvGrpSpPr>
          <p:cNvPr id="302" name="Google Shape;302;p37"/>
          <p:cNvGrpSpPr/>
          <p:nvPr/>
        </p:nvGrpSpPr>
        <p:grpSpPr>
          <a:xfrm>
            <a:off x="488525" y="3098476"/>
            <a:ext cx="1864800" cy="718498"/>
            <a:chOff x="488525" y="3093501"/>
            <a:chExt cx="1864800" cy="718498"/>
          </a:xfrm>
        </p:grpSpPr>
        <p:grpSp>
          <p:nvGrpSpPr>
            <p:cNvPr id="303" name="Google Shape;303;p37"/>
            <p:cNvGrpSpPr/>
            <p:nvPr/>
          </p:nvGrpSpPr>
          <p:grpSpPr>
            <a:xfrm>
              <a:off x="488525" y="3093501"/>
              <a:ext cx="1864800" cy="718498"/>
              <a:chOff x="488525" y="3093501"/>
              <a:chExt cx="1864800" cy="718498"/>
            </a:xfrm>
          </p:grpSpPr>
          <p:sp>
            <p:nvSpPr>
              <p:cNvPr id="304" name="Google Shape;304;p37"/>
              <p:cNvSpPr/>
              <p:nvPr/>
            </p:nvSpPr>
            <p:spPr>
              <a:xfrm>
                <a:off x="488525" y="3348799"/>
                <a:ext cx="1864800" cy="463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7"/>
              <p:cNvSpPr/>
              <p:nvPr/>
            </p:nvSpPr>
            <p:spPr>
              <a:xfrm>
                <a:off x="488525" y="3093501"/>
                <a:ext cx="1864800" cy="255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" name="Google Shape;306;p37"/>
            <p:cNvGrpSpPr/>
            <p:nvPr/>
          </p:nvGrpSpPr>
          <p:grpSpPr>
            <a:xfrm>
              <a:off x="693113" y="3432625"/>
              <a:ext cx="1455642" cy="295547"/>
              <a:chOff x="704072" y="2828928"/>
              <a:chExt cx="1455642" cy="295547"/>
            </a:xfrm>
          </p:grpSpPr>
          <p:sp>
            <p:nvSpPr>
              <p:cNvPr id="307" name="Google Shape;307;p37"/>
              <p:cNvSpPr/>
              <p:nvPr/>
            </p:nvSpPr>
            <p:spPr>
              <a:xfrm>
                <a:off x="704072" y="2828928"/>
                <a:ext cx="295547" cy="295547"/>
              </a:xfrm>
              <a:custGeom>
                <a:avLst/>
                <a:gdLst/>
                <a:ahLst/>
                <a:cxnLst/>
                <a:rect l="l" t="t" r="r" b="b"/>
                <a:pathLst>
                  <a:path w="3170" h="3170" extrusionOk="0">
                    <a:moveTo>
                      <a:pt x="701" y="1"/>
                    </a:moveTo>
                    <a:cubicBezTo>
                      <a:pt x="301" y="1"/>
                      <a:pt x="1" y="334"/>
                      <a:pt x="1" y="701"/>
                    </a:cubicBezTo>
                    <a:lnTo>
                      <a:pt x="1" y="2436"/>
                    </a:lnTo>
                    <a:cubicBezTo>
                      <a:pt x="1" y="2869"/>
                      <a:pt x="334" y="3169"/>
                      <a:pt x="701" y="3169"/>
                    </a:cubicBezTo>
                    <a:lnTo>
                      <a:pt x="2469" y="3169"/>
                    </a:lnTo>
                    <a:cubicBezTo>
                      <a:pt x="2870" y="3169"/>
                      <a:pt x="3170" y="2836"/>
                      <a:pt x="3170" y="2436"/>
                    </a:cubicBezTo>
                    <a:lnTo>
                      <a:pt x="3170" y="701"/>
                    </a:lnTo>
                    <a:cubicBezTo>
                      <a:pt x="3170" y="267"/>
                      <a:pt x="2836" y="1"/>
                      <a:pt x="24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7"/>
              <p:cNvSpPr/>
              <p:nvPr/>
            </p:nvSpPr>
            <p:spPr>
              <a:xfrm>
                <a:off x="1095931" y="2922255"/>
                <a:ext cx="1063783" cy="21816"/>
              </a:xfrm>
              <a:custGeom>
                <a:avLst/>
                <a:gdLst/>
                <a:ahLst/>
                <a:cxnLst/>
                <a:rect l="l" t="t" r="r" b="b"/>
                <a:pathLst>
                  <a:path w="11410" h="234" extrusionOk="0">
                    <a:moveTo>
                      <a:pt x="134" y="0"/>
                    </a:moveTo>
                    <a:cubicBezTo>
                      <a:pt x="68" y="0"/>
                      <a:pt x="1" y="34"/>
                      <a:pt x="1" y="100"/>
                    </a:cubicBezTo>
                    <a:cubicBezTo>
                      <a:pt x="1" y="200"/>
                      <a:pt x="68" y="234"/>
                      <a:pt x="134" y="234"/>
                    </a:cubicBezTo>
                    <a:lnTo>
                      <a:pt x="11276" y="234"/>
                    </a:lnTo>
                    <a:cubicBezTo>
                      <a:pt x="11342" y="234"/>
                      <a:pt x="11409" y="200"/>
                      <a:pt x="11409" y="100"/>
                    </a:cubicBezTo>
                    <a:cubicBezTo>
                      <a:pt x="11409" y="34"/>
                      <a:pt x="11309" y="0"/>
                      <a:pt x="11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7"/>
              <p:cNvSpPr/>
              <p:nvPr/>
            </p:nvSpPr>
            <p:spPr>
              <a:xfrm>
                <a:off x="1095931" y="3003088"/>
                <a:ext cx="684327" cy="21910"/>
              </a:xfrm>
              <a:custGeom>
                <a:avLst/>
                <a:gdLst/>
                <a:ahLst/>
                <a:cxnLst/>
                <a:rect l="l" t="t" r="r" b="b"/>
                <a:pathLst>
                  <a:path w="7340" h="235" extrusionOk="0">
                    <a:moveTo>
                      <a:pt x="134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01"/>
                      <a:pt x="68" y="234"/>
                      <a:pt x="134" y="234"/>
                    </a:cubicBezTo>
                    <a:lnTo>
                      <a:pt x="7239" y="234"/>
                    </a:lnTo>
                    <a:cubicBezTo>
                      <a:pt x="7306" y="234"/>
                      <a:pt x="7339" y="201"/>
                      <a:pt x="7339" y="134"/>
                    </a:cubicBezTo>
                    <a:cubicBezTo>
                      <a:pt x="7339" y="67"/>
                      <a:pt x="7273" y="1"/>
                      <a:pt x="7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0" name="Google Shape;310;p37"/>
            <p:cNvGrpSpPr/>
            <p:nvPr/>
          </p:nvGrpSpPr>
          <p:grpSpPr>
            <a:xfrm>
              <a:off x="1892128" y="3177685"/>
              <a:ext cx="361833" cy="86930"/>
              <a:chOff x="2513203" y="3027163"/>
              <a:chExt cx="361833" cy="86930"/>
            </a:xfrm>
          </p:grpSpPr>
          <p:sp>
            <p:nvSpPr>
              <p:cNvPr id="311" name="Google Shape;311;p37"/>
              <p:cNvSpPr/>
              <p:nvPr/>
            </p:nvSpPr>
            <p:spPr>
              <a:xfrm>
                <a:off x="2513203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4" y="1"/>
                    </a:moveTo>
                    <a:cubicBezTo>
                      <a:pt x="500" y="1"/>
                      <a:pt x="0" y="501"/>
                      <a:pt x="0" y="1101"/>
                    </a:cubicBezTo>
                    <a:cubicBezTo>
                      <a:pt x="0" y="1735"/>
                      <a:pt x="500" y="2236"/>
                      <a:pt x="1134" y="2236"/>
                    </a:cubicBezTo>
                    <a:cubicBezTo>
                      <a:pt x="1768" y="2236"/>
                      <a:pt x="2268" y="1735"/>
                      <a:pt x="2268" y="1101"/>
                    </a:cubicBezTo>
                    <a:cubicBezTo>
                      <a:pt x="2268" y="501"/>
                      <a:pt x="1768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7"/>
              <p:cNvSpPr/>
              <p:nvPr/>
            </p:nvSpPr>
            <p:spPr>
              <a:xfrm>
                <a:off x="2650635" y="3027163"/>
                <a:ext cx="88252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70" h="2236" extrusionOk="0">
                    <a:moveTo>
                      <a:pt x="1135" y="1"/>
                    </a:moveTo>
                    <a:cubicBezTo>
                      <a:pt x="501" y="1"/>
                      <a:pt x="1" y="501"/>
                      <a:pt x="1" y="1101"/>
                    </a:cubicBezTo>
                    <a:cubicBezTo>
                      <a:pt x="1" y="1735"/>
                      <a:pt x="501" y="2236"/>
                      <a:pt x="1135" y="2236"/>
                    </a:cubicBezTo>
                    <a:cubicBezTo>
                      <a:pt x="1769" y="2236"/>
                      <a:pt x="2269" y="1735"/>
                      <a:pt x="2269" y="1101"/>
                    </a:cubicBezTo>
                    <a:cubicBezTo>
                      <a:pt x="2269" y="501"/>
                      <a:pt x="1736" y="1"/>
                      <a:pt x="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7"/>
              <p:cNvSpPr/>
              <p:nvPr/>
            </p:nvSpPr>
            <p:spPr>
              <a:xfrm>
                <a:off x="2786822" y="3027163"/>
                <a:ext cx="88213" cy="86930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2236" extrusionOk="0">
                    <a:moveTo>
                      <a:pt x="1135" y="1"/>
                    </a:moveTo>
                    <a:cubicBezTo>
                      <a:pt x="501" y="1"/>
                      <a:pt x="0" y="501"/>
                      <a:pt x="0" y="1101"/>
                    </a:cubicBezTo>
                    <a:cubicBezTo>
                      <a:pt x="0" y="1735"/>
                      <a:pt x="501" y="2236"/>
                      <a:pt x="1135" y="2236"/>
                    </a:cubicBezTo>
                    <a:cubicBezTo>
                      <a:pt x="1768" y="2236"/>
                      <a:pt x="2269" y="1735"/>
                      <a:pt x="2269" y="1101"/>
                    </a:cubicBezTo>
                    <a:cubicBezTo>
                      <a:pt x="2269" y="501"/>
                      <a:pt x="1768" y="1"/>
                      <a:pt x="1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8"/>
          <p:cNvSpPr txBox="1">
            <a:spLocks noGrp="1"/>
          </p:cNvSpPr>
          <p:nvPr>
            <p:ph type="ctrTitle"/>
          </p:nvPr>
        </p:nvSpPr>
        <p:spPr>
          <a:xfrm>
            <a:off x="1114025" y="1322300"/>
            <a:ext cx="7144800" cy="30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Mensajes más comunes.</a:t>
            </a:r>
            <a:endParaRPr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Especificación de clase simple.</a:t>
            </a:r>
            <a:endParaRPr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Desarrollo de una aplicación utilizando la especificación de una clase.</a:t>
            </a:r>
            <a:endParaRPr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Implementación de clase simple.</a:t>
            </a:r>
            <a:endParaRPr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Desarrollar Aplicación en Dolphin.</a:t>
            </a:r>
            <a:endParaRPr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Ejercicios para resolver.</a:t>
            </a:r>
            <a:endParaRPr/>
          </a:p>
        </p:txBody>
      </p:sp>
      <p:sp>
        <p:nvSpPr>
          <p:cNvPr id="319" name="Google Shape;319;p38"/>
          <p:cNvSpPr txBox="1">
            <a:spLocks noGrp="1"/>
          </p:cNvSpPr>
          <p:nvPr>
            <p:ph type="title" idx="9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 </a:t>
            </a:r>
            <a:r>
              <a:rPr lang="en"/>
              <a:t>Clase 3 - POO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9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325" name="Google Shape;325;p39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9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" name="Google Shape;327;p39"/>
          <p:cNvGrpSpPr/>
          <p:nvPr/>
        </p:nvGrpSpPr>
        <p:grpSpPr>
          <a:xfrm>
            <a:off x="1045150" y="2008050"/>
            <a:ext cx="2119748" cy="1127400"/>
            <a:chOff x="4924170" y="3441525"/>
            <a:chExt cx="3447305" cy="1127400"/>
          </a:xfrm>
        </p:grpSpPr>
        <p:sp>
          <p:nvSpPr>
            <p:cNvPr id="328" name="Google Shape;328;p39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Tipos de Mensajes</a:t>
              </a:r>
              <a:endParaRPr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329" name="Google Shape;329;p39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330" name="Google Shape;330;p39"/>
          <p:cNvGrpSpPr/>
          <p:nvPr/>
        </p:nvGrpSpPr>
        <p:grpSpPr>
          <a:xfrm>
            <a:off x="5653974" y="1302330"/>
            <a:ext cx="2329025" cy="1775946"/>
            <a:chOff x="-227375" y="1029588"/>
            <a:chExt cx="4718446" cy="4667400"/>
          </a:xfrm>
        </p:grpSpPr>
        <p:sp>
          <p:nvSpPr>
            <p:cNvPr id="331" name="Google Shape;331;p39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9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" name="Google Shape;333;p39"/>
          <p:cNvSpPr txBox="1">
            <a:spLocks noGrp="1"/>
          </p:cNvSpPr>
          <p:nvPr>
            <p:ph type="title"/>
          </p:nvPr>
        </p:nvSpPr>
        <p:spPr>
          <a:xfrm>
            <a:off x="1045150" y="10278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Repaso</a:t>
            </a:r>
            <a:endParaRPr/>
          </a:p>
        </p:txBody>
      </p:sp>
      <p:pic>
        <p:nvPicPr>
          <p:cNvPr id="334" name="Google Shape;33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8516" y="1666642"/>
            <a:ext cx="1252351" cy="1265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39"/>
          <p:cNvGrpSpPr/>
          <p:nvPr/>
        </p:nvGrpSpPr>
        <p:grpSpPr>
          <a:xfrm>
            <a:off x="3467300" y="2008050"/>
            <a:ext cx="2119748" cy="1127400"/>
            <a:chOff x="4924170" y="3441525"/>
            <a:chExt cx="3447305" cy="1127400"/>
          </a:xfrm>
        </p:grpSpPr>
        <p:sp>
          <p:nvSpPr>
            <p:cNvPr id="336" name="Google Shape;336;p39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Orden de los mensajes</a:t>
              </a:r>
              <a:endParaRPr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337" name="Google Shape;337;p39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338" name="Google Shape;338;p39"/>
          <p:cNvGrpSpPr/>
          <p:nvPr/>
        </p:nvGrpSpPr>
        <p:grpSpPr>
          <a:xfrm>
            <a:off x="2257369" y="2899250"/>
            <a:ext cx="2119748" cy="1127400"/>
            <a:chOff x="4924170" y="3441525"/>
            <a:chExt cx="3447305" cy="1127400"/>
          </a:xfrm>
        </p:grpSpPr>
        <p:sp>
          <p:nvSpPr>
            <p:cNvPr id="339" name="Google Shape;339;p39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Componentes de un mensaje</a:t>
              </a:r>
              <a:endParaRPr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340" name="Google Shape;340;p39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40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346" name="Google Shape;346;p40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40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349" name="Google Shape;349;p40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0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40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352" name="Google Shape;352;p40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4" name="Google Shape;354;p40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Mensajes más comunes</a:t>
            </a:r>
            <a:endParaRPr sz="4600"/>
          </a:p>
        </p:txBody>
      </p:sp>
      <p:sp>
        <p:nvSpPr>
          <p:cNvPr id="355" name="Google Shape;355;p40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357" name="Google Shape;357;p40"/>
          <p:cNvGrpSpPr/>
          <p:nvPr/>
        </p:nvGrpSpPr>
        <p:grpSpPr>
          <a:xfrm>
            <a:off x="6113356" y="1756656"/>
            <a:ext cx="1216787" cy="1214146"/>
            <a:chOff x="1745217" y="1515471"/>
            <a:chExt cx="343269" cy="342505"/>
          </a:xfrm>
        </p:grpSpPr>
        <p:sp>
          <p:nvSpPr>
            <p:cNvPr id="358" name="Google Shape;358;p40"/>
            <p:cNvSpPr/>
            <p:nvPr/>
          </p:nvSpPr>
          <p:spPr>
            <a:xfrm>
              <a:off x="1854448" y="1647096"/>
              <a:ext cx="22012" cy="21630"/>
            </a:xfrm>
            <a:custGeom>
              <a:avLst/>
              <a:gdLst/>
              <a:ahLst/>
              <a:cxnLst/>
              <a:rect l="l" t="t" r="r" b="b"/>
              <a:pathLst>
                <a:path w="691" h="679" extrusionOk="0">
                  <a:moveTo>
                    <a:pt x="346" y="0"/>
                  </a:moveTo>
                  <a:cubicBezTo>
                    <a:pt x="155" y="0"/>
                    <a:pt x="0" y="155"/>
                    <a:pt x="0" y="345"/>
                  </a:cubicBezTo>
                  <a:cubicBezTo>
                    <a:pt x="0" y="536"/>
                    <a:pt x="155" y="679"/>
                    <a:pt x="346" y="679"/>
                  </a:cubicBezTo>
                  <a:cubicBezTo>
                    <a:pt x="536" y="679"/>
                    <a:pt x="691" y="536"/>
                    <a:pt x="691" y="345"/>
                  </a:cubicBezTo>
                  <a:cubicBezTo>
                    <a:pt x="691" y="155"/>
                    <a:pt x="536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0"/>
            <p:cNvSpPr/>
            <p:nvPr/>
          </p:nvSpPr>
          <p:spPr>
            <a:xfrm>
              <a:off x="1906021" y="1647096"/>
              <a:ext cx="21661" cy="21630"/>
            </a:xfrm>
            <a:custGeom>
              <a:avLst/>
              <a:gdLst/>
              <a:ahLst/>
              <a:cxnLst/>
              <a:rect l="l" t="t" r="r" b="b"/>
              <a:pathLst>
                <a:path w="680" h="679" extrusionOk="0">
                  <a:moveTo>
                    <a:pt x="334" y="0"/>
                  </a:moveTo>
                  <a:cubicBezTo>
                    <a:pt x="143" y="0"/>
                    <a:pt x="0" y="155"/>
                    <a:pt x="0" y="345"/>
                  </a:cubicBezTo>
                  <a:cubicBezTo>
                    <a:pt x="0" y="536"/>
                    <a:pt x="143" y="679"/>
                    <a:pt x="334" y="679"/>
                  </a:cubicBezTo>
                  <a:cubicBezTo>
                    <a:pt x="524" y="679"/>
                    <a:pt x="679" y="536"/>
                    <a:pt x="679" y="345"/>
                  </a:cubicBezTo>
                  <a:cubicBezTo>
                    <a:pt x="679" y="155"/>
                    <a:pt x="524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0"/>
            <p:cNvSpPr/>
            <p:nvPr/>
          </p:nvSpPr>
          <p:spPr>
            <a:xfrm>
              <a:off x="1956830" y="1647096"/>
              <a:ext cx="22044" cy="21630"/>
            </a:xfrm>
            <a:custGeom>
              <a:avLst/>
              <a:gdLst/>
              <a:ahLst/>
              <a:cxnLst/>
              <a:rect l="l" t="t" r="r" b="b"/>
              <a:pathLst>
                <a:path w="692" h="679" extrusionOk="0">
                  <a:moveTo>
                    <a:pt x="346" y="0"/>
                  </a:moveTo>
                  <a:cubicBezTo>
                    <a:pt x="156" y="0"/>
                    <a:pt x="1" y="155"/>
                    <a:pt x="1" y="345"/>
                  </a:cubicBezTo>
                  <a:cubicBezTo>
                    <a:pt x="1" y="536"/>
                    <a:pt x="156" y="679"/>
                    <a:pt x="346" y="679"/>
                  </a:cubicBezTo>
                  <a:cubicBezTo>
                    <a:pt x="537" y="679"/>
                    <a:pt x="691" y="536"/>
                    <a:pt x="691" y="345"/>
                  </a:cubicBezTo>
                  <a:cubicBezTo>
                    <a:pt x="691" y="155"/>
                    <a:pt x="537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0"/>
            <p:cNvSpPr/>
            <p:nvPr/>
          </p:nvSpPr>
          <p:spPr>
            <a:xfrm>
              <a:off x="1745217" y="1515471"/>
              <a:ext cx="343269" cy="342505"/>
            </a:xfrm>
            <a:custGeom>
              <a:avLst/>
              <a:gdLst/>
              <a:ahLst/>
              <a:cxnLst/>
              <a:rect l="l" t="t" r="r" b="b"/>
              <a:pathLst>
                <a:path w="10776" h="10752" extrusionOk="0">
                  <a:moveTo>
                    <a:pt x="5382" y="1"/>
                  </a:moveTo>
                  <a:cubicBezTo>
                    <a:pt x="3953" y="1"/>
                    <a:pt x="2608" y="453"/>
                    <a:pt x="1596" y="1286"/>
                  </a:cubicBezTo>
                  <a:cubicBezTo>
                    <a:pt x="560" y="2144"/>
                    <a:pt x="0" y="3251"/>
                    <a:pt x="0" y="4465"/>
                  </a:cubicBezTo>
                  <a:cubicBezTo>
                    <a:pt x="0" y="5513"/>
                    <a:pt x="465" y="6561"/>
                    <a:pt x="1274" y="7359"/>
                  </a:cubicBezTo>
                  <a:cubicBezTo>
                    <a:pt x="2072" y="8121"/>
                    <a:pt x="3120" y="8645"/>
                    <a:pt x="4298" y="8835"/>
                  </a:cubicBezTo>
                  <a:cubicBezTo>
                    <a:pt x="4310" y="9442"/>
                    <a:pt x="4108" y="10014"/>
                    <a:pt x="3703" y="10478"/>
                  </a:cubicBezTo>
                  <a:cubicBezTo>
                    <a:pt x="3655" y="10514"/>
                    <a:pt x="3644" y="10597"/>
                    <a:pt x="3679" y="10657"/>
                  </a:cubicBezTo>
                  <a:cubicBezTo>
                    <a:pt x="3703" y="10704"/>
                    <a:pt x="3763" y="10752"/>
                    <a:pt x="3834" y="10752"/>
                  </a:cubicBezTo>
                  <a:cubicBezTo>
                    <a:pt x="5025" y="10752"/>
                    <a:pt x="6084" y="9966"/>
                    <a:pt x="6442" y="8835"/>
                  </a:cubicBezTo>
                  <a:cubicBezTo>
                    <a:pt x="7406" y="8668"/>
                    <a:pt x="8287" y="8299"/>
                    <a:pt x="9013" y="7752"/>
                  </a:cubicBezTo>
                  <a:cubicBezTo>
                    <a:pt x="9097" y="7692"/>
                    <a:pt x="9109" y="7585"/>
                    <a:pt x="9049" y="7513"/>
                  </a:cubicBezTo>
                  <a:cubicBezTo>
                    <a:pt x="9014" y="7465"/>
                    <a:pt x="8963" y="7441"/>
                    <a:pt x="8913" y="7441"/>
                  </a:cubicBezTo>
                  <a:cubicBezTo>
                    <a:pt x="8877" y="7441"/>
                    <a:pt x="8841" y="7453"/>
                    <a:pt x="8811" y="7478"/>
                  </a:cubicBezTo>
                  <a:cubicBezTo>
                    <a:pt x="8096" y="8014"/>
                    <a:pt x="7215" y="8371"/>
                    <a:pt x="6275" y="8502"/>
                  </a:cubicBezTo>
                  <a:cubicBezTo>
                    <a:pt x="6203" y="8525"/>
                    <a:pt x="6156" y="8561"/>
                    <a:pt x="6132" y="8621"/>
                  </a:cubicBezTo>
                  <a:cubicBezTo>
                    <a:pt x="5894" y="9549"/>
                    <a:pt x="5120" y="10216"/>
                    <a:pt x="4215" y="10371"/>
                  </a:cubicBezTo>
                  <a:cubicBezTo>
                    <a:pt x="4537" y="9859"/>
                    <a:pt x="4703" y="9264"/>
                    <a:pt x="4644" y="8656"/>
                  </a:cubicBezTo>
                  <a:cubicBezTo>
                    <a:pt x="4644" y="8585"/>
                    <a:pt x="4572" y="8502"/>
                    <a:pt x="4489" y="8490"/>
                  </a:cubicBezTo>
                  <a:cubicBezTo>
                    <a:pt x="2084" y="8144"/>
                    <a:pt x="346" y="6442"/>
                    <a:pt x="346" y="4430"/>
                  </a:cubicBezTo>
                  <a:cubicBezTo>
                    <a:pt x="346" y="2156"/>
                    <a:pt x="2608" y="310"/>
                    <a:pt x="5382" y="310"/>
                  </a:cubicBezTo>
                  <a:cubicBezTo>
                    <a:pt x="8168" y="310"/>
                    <a:pt x="10430" y="2156"/>
                    <a:pt x="10430" y="4430"/>
                  </a:cubicBezTo>
                  <a:cubicBezTo>
                    <a:pt x="10430" y="5370"/>
                    <a:pt x="10025" y="6287"/>
                    <a:pt x="9311" y="7013"/>
                  </a:cubicBezTo>
                  <a:cubicBezTo>
                    <a:pt x="9251" y="7097"/>
                    <a:pt x="9251" y="7192"/>
                    <a:pt x="9311" y="7252"/>
                  </a:cubicBezTo>
                  <a:cubicBezTo>
                    <a:pt x="9353" y="7281"/>
                    <a:pt x="9397" y="7296"/>
                    <a:pt x="9439" y="7296"/>
                  </a:cubicBezTo>
                  <a:cubicBezTo>
                    <a:pt x="9481" y="7296"/>
                    <a:pt x="9519" y="7281"/>
                    <a:pt x="9549" y="7252"/>
                  </a:cubicBezTo>
                  <a:cubicBezTo>
                    <a:pt x="10347" y="6466"/>
                    <a:pt x="10775" y="5454"/>
                    <a:pt x="10775" y="4430"/>
                  </a:cubicBezTo>
                  <a:cubicBezTo>
                    <a:pt x="10775" y="3263"/>
                    <a:pt x="10204" y="2144"/>
                    <a:pt x="9180" y="1286"/>
                  </a:cubicBezTo>
                  <a:cubicBezTo>
                    <a:pt x="8168" y="453"/>
                    <a:pt x="6811" y="1"/>
                    <a:pt x="5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&lt;/Clase </a:t>
            </a:r>
            <a:r>
              <a:rPr lang="en"/>
              <a:t>Transcript</a:t>
            </a:r>
            <a:endParaRPr/>
          </a:p>
        </p:txBody>
      </p:sp>
      <p:grpSp>
        <p:nvGrpSpPr>
          <p:cNvPr id="367" name="Google Shape;367;p41"/>
          <p:cNvGrpSpPr/>
          <p:nvPr/>
        </p:nvGrpSpPr>
        <p:grpSpPr>
          <a:xfrm>
            <a:off x="3966775" y="1493875"/>
            <a:ext cx="4464300" cy="457200"/>
            <a:chOff x="3966775" y="1665600"/>
            <a:chExt cx="4464300" cy="457200"/>
          </a:xfrm>
        </p:grpSpPr>
        <p:sp>
          <p:nvSpPr>
            <p:cNvPr id="368" name="Google Shape;368;p41"/>
            <p:cNvSpPr txBox="1"/>
            <p:nvPr/>
          </p:nvSpPr>
          <p:spPr>
            <a:xfrm>
              <a:off x="5165875" y="1665600"/>
              <a:ext cx="3265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Muestra el string en el Transcript</a:t>
              </a:r>
              <a:endParaRPr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69" name="Google Shape;369;p41"/>
            <p:cNvSpPr txBox="1"/>
            <p:nvPr/>
          </p:nvSpPr>
          <p:spPr>
            <a:xfrm>
              <a:off x="3966775" y="1665600"/>
              <a:ext cx="1199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{show</a:t>
              </a:r>
              <a:r>
                <a:rPr lang="en" sz="2200">
                  <a:solidFill>
                    <a:schemeClr val="l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370" name="Google Shape;370;p41"/>
          <p:cNvGrpSpPr/>
          <p:nvPr/>
        </p:nvGrpSpPr>
        <p:grpSpPr>
          <a:xfrm>
            <a:off x="3966775" y="2116775"/>
            <a:ext cx="4464001" cy="457200"/>
            <a:chOff x="3966775" y="2319644"/>
            <a:chExt cx="4464001" cy="457200"/>
          </a:xfrm>
        </p:grpSpPr>
        <p:sp>
          <p:nvSpPr>
            <p:cNvPr id="371" name="Google Shape;371;p41"/>
            <p:cNvSpPr txBox="1"/>
            <p:nvPr/>
          </p:nvSpPr>
          <p:spPr>
            <a:xfrm>
              <a:off x="5176976" y="2319644"/>
              <a:ext cx="3253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Salto de Línea</a:t>
              </a:r>
              <a:endParaRPr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72" name="Google Shape;372;p41"/>
            <p:cNvSpPr txBox="1"/>
            <p:nvPr/>
          </p:nvSpPr>
          <p:spPr>
            <a:xfrm>
              <a:off x="3966775" y="2319644"/>
              <a:ext cx="121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{cr</a:t>
              </a:r>
              <a:r>
                <a:rPr lang="en" sz="2200">
                  <a:solidFill>
                    <a:schemeClr val="accent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373" name="Google Shape;373;p41"/>
          <p:cNvGrpSpPr/>
          <p:nvPr/>
        </p:nvGrpSpPr>
        <p:grpSpPr>
          <a:xfrm>
            <a:off x="3966775" y="2739700"/>
            <a:ext cx="4464001" cy="457200"/>
            <a:chOff x="3966775" y="2973713"/>
            <a:chExt cx="4464001" cy="457200"/>
          </a:xfrm>
        </p:grpSpPr>
        <p:sp>
          <p:nvSpPr>
            <p:cNvPr id="374" name="Google Shape;374;p41"/>
            <p:cNvSpPr txBox="1"/>
            <p:nvPr/>
          </p:nvSpPr>
          <p:spPr>
            <a:xfrm>
              <a:off x="5188376" y="2973713"/>
              <a:ext cx="3242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Deja un espacio</a:t>
              </a:r>
              <a:endParaRPr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75" name="Google Shape;375;p41"/>
            <p:cNvSpPr txBox="1"/>
            <p:nvPr/>
          </p:nvSpPr>
          <p:spPr>
            <a:xfrm>
              <a:off x="3966775" y="2973713"/>
              <a:ext cx="122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{space</a:t>
              </a:r>
              <a:r>
                <a:rPr lang="en" sz="2200">
                  <a:solidFill>
                    <a:schemeClr val="accen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376" name="Google Shape;376;p41"/>
          <p:cNvGrpSpPr/>
          <p:nvPr/>
        </p:nvGrpSpPr>
        <p:grpSpPr>
          <a:xfrm>
            <a:off x="3966775" y="3362600"/>
            <a:ext cx="4464050" cy="457200"/>
            <a:chOff x="3966775" y="3627756"/>
            <a:chExt cx="4464050" cy="457200"/>
          </a:xfrm>
        </p:grpSpPr>
        <p:sp>
          <p:nvSpPr>
            <p:cNvPr id="377" name="Google Shape;377;p41"/>
            <p:cNvSpPr txBox="1"/>
            <p:nvPr/>
          </p:nvSpPr>
          <p:spPr>
            <a:xfrm>
              <a:off x="5193525" y="3627756"/>
              <a:ext cx="3237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Limpia el Transcript</a:t>
              </a:r>
              <a:endParaRPr sz="2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378" name="Google Shape;378;p41"/>
            <p:cNvSpPr txBox="1"/>
            <p:nvPr/>
          </p:nvSpPr>
          <p:spPr>
            <a:xfrm>
              <a:off x="3966775" y="3627756"/>
              <a:ext cx="122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{clear</a:t>
              </a:r>
              <a:r>
                <a:rPr lang="en" sz="2200">
                  <a:solidFill>
                    <a:schemeClr val="accent3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cxnSp>
        <p:nvCxnSpPr>
          <p:cNvPr id="379" name="Google Shape;379;p41"/>
          <p:cNvCxnSpPr>
            <a:stCxn id="369" idx="1"/>
            <a:endCxn id="380" idx="6"/>
          </p:cNvCxnSpPr>
          <p:nvPr/>
        </p:nvCxnSpPr>
        <p:spPr>
          <a:xfrm flipH="1">
            <a:off x="3182875" y="1722475"/>
            <a:ext cx="783900" cy="2718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41"/>
          <p:cNvCxnSpPr>
            <a:stCxn id="372" idx="1"/>
            <a:endCxn id="382" idx="6"/>
          </p:cNvCxnSpPr>
          <p:nvPr/>
        </p:nvCxnSpPr>
        <p:spPr>
          <a:xfrm flipH="1">
            <a:off x="3182875" y="2345375"/>
            <a:ext cx="783900" cy="1362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3" name="Google Shape;383;p41"/>
          <p:cNvCxnSpPr>
            <a:stCxn id="375" idx="1"/>
            <a:endCxn id="384" idx="6"/>
          </p:cNvCxnSpPr>
          <p:nvPr/>
        </p:nvCxnSpPr>
        <p:spPr>
          <a:xfrm flipH="1">
            <a:off x="3182875" y="2968300"/>
            <a:ext cx="783900" cy="9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41"/>
          <p:cNvCxnSpPr>
            <a:stCxn id="378" idx="1"/>
            <a:endCxn id="386" idx="6"/>
          </p:cNvCxnSpPr>
          <p:nvPr/>
        </p:nvCxnSpPr>
        <p:spPr>
          <a:xfrm rot="10800000">
            <a:off x="3182875" y="3456500"/>
            <a:ext cx="783900" cy="1347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87" name="Google Shape;387;p41"/>
          <p:cNvGrpSpPr/>
          <p:nvPr/>
        </p:nvGrpSpPr>
        <p:grpSpPr>
          <a:xfrm>
            <a:off x="720000" y="1437774"/>
            <a:ext cx="2235085" cy="2597989"/>
            <a:chOff x="720000" y="1437774"/>
            <a:chExt cx="2235085" cy="2597989"/>
          </a:xfrm>
        </p:grpSpPr>
        <p:sp>
          <p:nvSpPr>
            <p:cNvPr id="388" name="Google Shape;388;p41"/>
            <p:cNvSpPr/>
            <p:nvPr/>
          </p:nvSpPr>
          <p:spPr>
            <a:xfrm>
              <a:off x="720000" y="3317983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29746" y="1"/>
                  </a:moveTo>
                  <a:lnTo>
                    <a:pt x="0" y="14430"/>
                  </a:lnTo>
                  <a:lnTo>
                    <a:pt x="109215" y="70147"/>
                  </a:lnTo>
                  <a:lnTo>
                    <a:pt x="218429" y="14430"/>
                  </a:lnTo>
                  <a:lnTo>
                    <a:pt x="188684" y="1"/>
                  </a:lnTo>
                  <a:lnTo>
                    <a:pt x="109215" y="40623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1"/>
            <p:cNvSpPr/>
            <p:nvPr/>
          </p:nvSpPr>
          <p:spPr>
            <a:xfrm>
              <a:off x="720000" y="2822990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188684" y="0"/>
                  </a:moveTo>
                  <a:lnTo>
                    <a:pt x="158939" y="15095"/>
                  </a:lnTo>
                  <a:lnTo>
                    <a:pt x="109215" y="40623"/>
                  </a:lnTo>
                  <a:lnTo>
                    <a:pt x="59491" y="15095"/>
                  </a:lnTo>
                  <a:lnTo>
                    <a:pt x="29746" y="0"/>
                  </a:lnTo>
                  <a:lnTo>
                    <a:pt x="0" y="14429"/>
                  </a:lnTo>
                  <a:lnTo>
                    <a:pt x="29746" y="29524"/>
                  </a:lnTo>
                  <a:lnTo>
                    <a:pt x="109215" y="70146"/>
                  </a:lnTo>
                  <a:lnTo>
                    <a:pt x="188684" y="29524"/>
                  </a:lnTo>
                  <a:lnTo>
                    <a:pt x="218429" y="1442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1"/>
            <p:cNvSpPr/>
            <p:nvPr/>
          </p:nvSpPr>
          <p:spPr>
            <a:xfrm>
              <a:off x="720000" y="2327997"/>
              <a:ext cx="2235085" cy="717779"/>
            </a:xfrm>
            <a:custGeom>
              <a:avLst/>
              <a:gdLst/>
              <a:ahLst/>
              <a:cxnLst/>
              <a:rect l="l" t="t" r="r" b="b"/>
              <a:pathLst>
                <a:path w="218430" h="70147" fill="none" extrusionOk="0">
                  <a:moveTo>
                    <a:pt x="188684" y="1"/>
                  </a:moveTo>
                  <a:lnTo>
                    <a:pt x="158939" y="15096"/>
                  </a:lnTo>
                  <a:lnTo>
                    <a:pt x="129193" y="30190"/>
                  </a:lnTo>
                  <a:lnTo>
                    <a:pt x="109215" y="40623"/>
                  </a:lnTo>
                  <a:lnTo>
                    <a:pt x="89237" y="30190"/>
                  </a:lnTo>
                  <a:lnTo>
                    <a:pt x="59491" y="15096"/>
                  </a:lnTo>
                  <a:lnTo>
                    <a:pt x="29746" y="1"/>
                  </a:lnTo>
                  <a:lnTo>
                    <a:pt x="0" y="14208"/>
                  </a:lnTo>
                  <a:lnTo>
                    <a:pt x="29746" y="29524"/>
                  </a:lnTo>
                  <a:lnTo>
                    <a:pt x="59491" y="44619"/>
                  </a:lnTo>
                  <a:lnTo>
                    <a:pt x="109215" y="70147"/>
                  </a:lnTo>
                  <a:lnTo>
                    <a:pt x="158939" y="44619"/>
                  </a:lnTo>
                  <a:lnTo>
                    <a:pt x="188684" y="29524"/>
                  </a:lnTo>
                  <a:lnTo>
                    <a:pt x="218429" y="1420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1"/>
            <p:cNvSpPr/>
            <p:nvPr/>
          </p:nvSpPr>
          <p:spPr>
            <a:xfrm>
              <a:off x="720000" y="1437774"/>
              <a:ext cx="2235085" cy="1113009"/>
            </a:xfrm>
            <a:custGeom>
              <a:avLst/>
              <a:gdLst/>
              <a:ahLst/>
              <a:cxnLst/>
              <a:rect l="l" t="t" r="r" b="b"/>
              <a:pathLst>
                <a:path w="218430" h="108772" fill="none" extrusionOk="0">
                  <a:moveTo>
                    <a:pt x="109215" y="1"/>
                  </a:moveTo>
                  <a:lnTo>
                    <a:pt x="0" y="52832"/>
                  </a:lnTo>
                  <a:lnTo>
                    <a:pt x="109215" y="108771"/>
                  </a:lnTo>
                  <a:lnTo>
                    <a:pt x="218429" y="52832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0" name="Google Shape;380;p41"/>
          <p:cNvSpPr/>
          <p:nvPr/>
        </p:nvSpPr>
        <p:spPr>
          <a:xfrm>
            <a:off x="2835500" y="1820585"/>
            <a:ext cx="347400" cy="34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1"/>
          <p:cNvSpPr/>
          <p:nvPr/>
        </p:nvSpPr>
        <p:spPr>
          <a:xfrm>
            <a:off x="2835500" y="2307998"/>
            <a:ext cx="347400" cy="34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1"/>
          <p:cNvSpPr/>
          <p:nvPr/>
        </p:nvSpPr>
        <p:spPr>
          <a:xfrm>
            <a:off x="2835500" y="2795411"/>
            <a:ext cx="347400" cy="347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1"/>
          <p:cNvSpPr/>
          <p:nvPr/>
        </p:nvSpPr>
        <p:spPr>
          <a:xfrm>
            <a:off x="2835500" y="3282824"/>
            <a:ext cx="347400" cy="347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&lt;/Clase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/>
              <a:t>MessageBox</a:t>
            </a:r>
            <a:endParaRPr/>
          </a:p>
        </p:txBody>
      </p:sp>
      <p:sp>
        <p:nvSpPr>
          <p:cNvPr id="397" name="Google Shape;397;p42"/>
          <p:cNvSpPr/>
          <p:nvPr/>
        </p:nvSpPr>
        <p:spPr>
          <a:xfrm>
            <a:off x="531725" y="1154800"/>
            <a:ext cx="1864826" cy="8166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notify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398" name="Google Shape;398;p42"/>
          <p:cNvPicPr preferRelativeResize="0"/>
          <p:nvPr/>
        </p:nvPicPr>
        <p:blipFill rotWithShape="1">
          <a:blip r:embed="rId3">
            <a:alphaModFix/>
          </a:blip>
          <a:srcRect l="618" t="919" r="1236" b="1223"/>
          <a:stretch/>
        </p:blipFill>
        <p:spPr>
          <a:xfrm>
            <a:off x="531726" y="2094425"/>
            <a:ext cx="1864825" cy="1812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2"/>
          <p:cNvSpPr/>
          <p:nvPr/>
        </p:nvSpPr>
        <p:spPr>
          <a:xfrm>
            <a:off x="2555898" y="1154800"/>
            <a:ext cx="1864826" cy="8166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confirm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(retorna bool)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0" name="Google Shape;400;p42"/>
          <p:cNvSpPr/>
          <p:nvPr/>
        </p:nvSpPr>
        <p:spPr>
          <a:xfrm>
            <a:off x="4641820" y="1154800"/>
            <a:ext cx="1864826" cy="8166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warning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1" name="Google Shape;401;p42"/>
          <p:cNvSpPr/>
          <p:nvPr/>
        </p:nvSpPr>
        <p:spPr>
          <a:xfrm>
            <a:off x="6727743" y="1154800"/>
            <a:ext cx="1864826" cy="8166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errorMsg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pic>
        <p:nvPicPr>
          <p:cNvPr id="402" name="Google Shape;40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7238" y="2205638"/>
            <a:ext cx="196215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2675" y="2205641"/>
            <a:ext cx="19431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9050" y="2205652"/>
            <a:ext cx="1864825" cy="137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&lt;/Clase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lang="en"/>
              <a:t>Prompter</a:t>
            </a:r>
            <a:endParaRPr/>
          </a:p>
        </p:txBody>
      </p:sp>
      <p:sp>
        <p:nvSpPr>
          <p:cNvPr id="410" name="Google Shape;410;p43"/>
          <p:cNvSpPr txBox="1"/>
          <p:nvPr/>
        </p:nvSpPr>
        <p:spPr>
          <a:xfrm>
            <a:off x="777125" y="1224700"/>
            <a:ext cx="7704000" cy="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Prompt: permite que el usuario ingrese información por teclado:</a:t>
            </a:r>
            <a:endParaRPr sz="2000">
              <a:solidFill>
                <a:schemeClr val="accent1"/>
              </a:solidFill>
            </a:endParaRPr>
          </a:p>
        </p:txBody>
      </p:sp>
      <p:pic>
        <p:nvPicPr>
          <p:cNvPr id="411" name="Google Shape;41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138" y="1964975"/>
            <a:ext cx="3409725" cy="18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>
            <a:spLocks noGrp="1"/>
          </p:cNvSpPr>
          <p:nvPr>
            <p:ph type="title"/>
          </p:nvPr>
        </p:nvSpPr>
        <p:spPr>
          <a:xfrm>
            <a:off x="719988" y="459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&lt;/Otros mensajes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417" name="Google Shape;417;p44"/>
          <p:cNvGrpSpPr/>
          <p:nvPr/>
        </p:nvGrpSpPr>
        <p:grpSpPr>
          <a:xfrm>
            <a:off x="1948641" y="1132200"/>
            <a:ext cx="6558884" cy="457200"/>
            <a:chOff x="1948641" y="1665600"/>
            <a:chExt cx="6558884" cy="457200"/>
          </a:xfrm>
        </p:grpSpPr>
        <p:sp>
          <p:nvSpPr>
            <p:cNvPr id="418" name="Google Shape;418;p44"/>
            <p:cNvSpPr txBox="1"/>
            <p:nvPr/>
          </p:nvSpPr>
          <p:spPr>
            <a:xfrm>
              <a:off x="3734225" y="1665600"/>
              <a:ext cx="4773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Muestra información detallada del objeto a debuguear</a:t>
              </a:r>
              <a:endParaRPr sz="20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19" name="Google Shape;419;p44"/>
            <p:cNvSpPr txBox="1"/>
            <p:nvPr/>
          </p:nvSpPr>
          <p:spPr>
            <a:xfrm>
              <a:off x="1948641" y="1665600"/>
              <a:ext cx="1833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Quantico"/>
                  <a:ea typeface="Quantico"/>
                  <a:cs typeface="Quantico"/>
                  <a:sym typeface="Quantico"/>
                </a:rPr>
                <a:t>{Inspect</a:t>
              </a:r>
              <a:r>
                <a:rPr lang="en" sz="2600">
                  <a:solidFill>
                    <a:srgbClr val="FFDB5D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1800">
                <a:solidFill>
                  <a:srgbClr val="FFFFFF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sp>
        <p:nvSpPr>
          <p:cNvPr id="420" name="Google Shape;420;p44"/>
          <p:cNvSpPr/>
          <p:nvPr/>
        </p:nvSpPr>
        <p:spPr>
          <a:xfrm>
            <a:off x="994113" y="1264200"/>
            <a:ext cx="193200" cy="193200"/>
          </a:xfrm>
          <a:prstGeom prst="rect">
            <a:avLst/>
          </a:prstGeom>
          <a:solidFill>
            <a:srgbClr val="FFDB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44"/>
          <p:cNvSpPr/>
          <p:nvPr/>
        </p:nvSpPr>
        <p:spPr>
          <a:xfrm>
            <a:off x="994113" y="1842050"/>
            <a:ext cx="193200" cy="193200"/>
          </a:xfrm>
          <a:prstGeom prst="rect">
            <a:avLst/>
          </a:prstGeom>
          <a:solidFill>
            <a:srgbClr val="94EE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44"/>
          <p:cNvSpPr/>
          <p:nvPr/>
        </p:nvSpPr>
        <p:spPr>
          <a:xfrm>
            <a:off x="994113" y="2419900"/>
            <a:ext cx="193200" cy="193200"/>
          </a:xfrm>
          <a:prstGeom prst="rect">
            <a:avLst/>
          </a:prstGeom>
          <a:solidFill>
            <a:srgbClr val="E81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44"/>
          <p:cNvSpPr/>
          <p:nvPr/>
        </p:nvSpPr>
        <p:spPr>
          <a:xfrm>
            <a:off x="994113" y="2997750"/>
            <a:ext cx="193200" cy="193200"/>
          </a:xfrm>
          <a:prstGeom prst="rect">
            <a:avLst/>
          </a:prstGeom>
          <a:solidFill>
            <a:srgbClr val="BD64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4" name="Google Shape;424;p44"/>
          <p:cNvCxnSpPr>
            <a:stCxn id="420" idx="2"/>
            <a:endCxn id="421" idx="0"/>
          </p:cNvCxnSpPr>
          <p:nvPr/>
        </p:nvCxnSpPr>
        <p:spPr>
          <a:xfrm>
            <a:off x="1090713" y="1457400"/>
            <a:ext cx="0" cy="384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44"/>
          <p:cNvCxnSpPr>
            <a:stCxn id="421" idx="2"/>
            <a:endCxn id="422" idx="0"/>
          </p:cNvCxnSpPr>
          <p:nvPr/>
        </p:nvCxnSpPr>
        <p:spPr>
          <a:xfrm>
            <a:off x="1090713" y="2035250"/>
            <a:ext cx="0" cy="384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44"/>
          <p:cNvCxnSpPr>
            <a:stCxn id="422" idx="2"/>
            <a:endCxn id="423" idx="0"/>
          </p:cNvCxnSpPr>
          <p:nvPr/>
        </p:nvCxnSpPr>
        <p:spPr>
          <a:xfrm>
            <a:off x="1090713" y="2613100"/>
            <a:ext cx="0" cy="384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7" name="Google Shape;427;p44"/>
          <p:cNvCxnSpPr>
            <a:stCxn id="420" idx="3"/>
            <a:endCxn id="419" idx="1"/>
          </p:cNvCxnSpPr>
          <p:nvPr/>
        </p:nvCxnSpPr>
        <p:spPr>
          <a:xfrm>
            <a:off x="1187313" y="1360800"/>
            <a:ext cx="761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44"/>
          <p:cNvCxnSpPr>
            <a:stCxn id="421" idx="3"/>
            <a:endCxn id="429" idx="1"/>
          </p:cNvCxnSpPr>
          <p:nvPr/>
        </p:nvCxnSpPr>
        <p:spPr>
          <a:xfrm>
            <a:off x="1187313" y="1938650"/>
            <a:ext cx="761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44"/>
          <p:cNvCxnSpPr>
            <a:stCxn id="422" idx="3"/>
            <a:endCxn id="431" idx="1"/>
          </p:cNvCxnSpPr>
          <p:nvPr/>
        </p:nvCxnSpPr>
        <p:spPr>
          <a:xfrm>
            <a:off x="1187313" y="2516500"/>
            <a:ext cx="761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2" name="Google Shape;432;p44"/>
          <p:cNvCxnSpPr>
            <a:stCxn id="423" idx="3"/>
            <a:endCxn id="433" idx="1"/>
          </p:cNvCxnSpPr>
          <p:nvPr/>
        </p:nvCxnSpPr>
        <p:spPr>
          <a:xfrm>
            <a:off x="1187313" y="3094350"/>
            <a:ext cx="761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34" name="Google Shape;434;p44"/>
          <p:cNvSpPr/>
          <p:nvPr/>
        </p:nvSpPr>
        <p:spPr>
          <a:xfrm>
            <a:off x="994113" y="3562900"/>
            <a:ext cx="193200" cy="193200"/>
          </a:xfrm>
          <a:prstGeom prst="rect">
            <a:avLst/>
          </a:prstGeom>
          <a:solidFill>
            <a:srgbClr val="00C3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C3B1"/>
              </a:solidFill>
            </a:endParaRPr>
          </a:p>
        </p:txBody>
      </p:sp>
      <p:sp>
        <p:nvSpPr>
          <p:cNvPr id="435" name="Google Shape;435;p44"/>
          <p:cNvSpPr/>
          <p:nvPr/>
        </p:nvSpPr>
        <p:spPr>
          <a:xfrm>
            <a:off x="994113" y="4140750"/>
            <a:ext cx="193200" cy="19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6" name="Google Shape;436;p44"/>
          <p:cNvCxnSpPr>
            <a:endCxn id="434" idx="0"/>
          </p:cNvCxnSpPr>
          <p:nvPr/>
        </p:nvCxnSpPr>
        <p:spPr>
          <a:xfrm>
            <a:off x="1090713" y="3178300"/>
            <a:ext cx="0" cy="384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7" name="Google Shape;437;p44"/>
          <p:cNvCxnSpPr>
            <a:stCxn id="434" idx="2"/>
            <a:endCxn id="435" idx="0"/>
          </p:cNvCxnSpPr>
          <p:nvPr/>
        </p:nvCxnSpPr>
        <p:spPr>
          <a:xfrm>
            <a:off x="1090713" y="3756100"/>
            <a:ext cx="0" cy="3846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44"/>
          <p:cNvCxnSpPr>
            <a:stCxn id="434" idx="3"/>
          </p:cNvCxnSpPr>
          <p:nvPr/>
        </p:nvCxnSpPr>
        <p:spPr>
          <a:xfrm>
            <a:off x="1187313" y="3659500"/>
            <a:ext cx="761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4"/>
          <p:cNvCxnSpPr>
            <a:stCxn id="435" idx="3"/>
          </p:cNvCxnSpPr>
          <p:nvPr/>
        </p:nvCxnSpPr>
        <p:spPr>
          <a:xfrm>
            <a:off x="1187313" y="4237350"/>
            <a:ext cx="761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40" name="Google Shape;440;p44"/>
          <p:cNvGrpSpPr/>
          <p:nvPr/>
        </p:nvGrpSpPr>
        <p:grpSpPr>
          <a:xfrm>
            <a:off x="1948647" y="1710050"/>
            <a:ext cx="6201253" cy="457200"/>
            <a:chOff x="1948647" y="1665600"/>
            <a:chExt cx="6201253" cy="457200"/>
          </a:xfrm>
        </p:grpSpPr>
        <p:sp>
          <p:nvSpPr>
            <p:cNvPr id="441" name="Google Shape;441;p44"/>
            <p:cNvSpPr txBox="1"/>
            <p:nvPr/>
          </p:nvSpPr>
          <p:spPr>
            <a:xfrm>
              <a:off x="3041500" y="1665600"/>
              <a:ext cx="5108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Devuelve el tamaño de un arreglo</a:t>
              </a:r>
              <a:endParaRPr sz="20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42" name="Google Shape;442;p44"/>
            <p:cNvSpPr txBox="1"/>
            <p:nvPr/>
          </p:nvSpPr>
          <p:spPr>
            <a:xfrm>
              <a:off x="1948647" y="1665600"/>
              <a:ext cx="1341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Quantico"/>
                  <a:ea typeface="Quantico"/>
                  <a:cs typeface="Quantico"/>
                  <a:sym typeface="Quantico"/>
                </a:rPr>
                <a:t>{Size</a:t>
              </a:r>
              <a:r>
                <a:rPr lang="en" sz="2600">
                  <a:solidFill>
                    <a:schemeClr val="accent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18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443" name="Google Shape;443;p44"/>
          <p:cNvGrpSpPr/>
          <p:nvPr/>
        </p:nvGrpSpPr>
        <p:grpSpPr>
          <a:xfrm>
            <a:off x="1948662" y="2287900"/>
            <a:ext cx="6201413" cy="457200"/>
            <a:chOff x="1948662" y="1665600"/>
            <a:chExt cx="6201413" cy="457200"/>
          </a:xfrm>
        </p:grpSpPr>
        <p:sp>
          <p:nvSpPr>
            <p:cNvPr id="444" name="Google Shape;444;p44"/>
            <p:cNvSpPr txBox="1"/>
            <p:nvPr/>
          </p:nvSpPr>
          <p:spPr>
            <a:xfrm>
              <a:off x="2705975" y="1665600"/>
              <a:ext cx="5444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Retorna un valor</a:t>
              </a:r>
              <a:endParaRPr sz="20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45" name="Google Shape;445;p44"/>
            <p:cNvSpPr txBox="1"/>
            <p:nvPr/>
          </p:nvSpPr>
          <p:spPr>
            <a:xfrm>
              <a:off x="1948662" y="1665600"/>
              <a:ext cx="1072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Quantico"/>
                  <a:ea typeface="Quantico"/>
                  <a:cs typeface="Quantico"/>
                  <a:sym typeface="Quantico"/>
                </a:rPr>
                <a:t>{^</a:t>
              </a:r>
              <a:r>
                <a:rPr lang="en" sz="2600">
                  <a:solidFill>
                    <a:schemeClr val="accent2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18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446" name="Google Shape;446;p44"/>
          <p:cNvGrpSpPr/>
          <p:nvPr/>
        </p:nvGrpSpPr>
        <p:grpSpPr>
          <a:xfrm>
            <a:off x="1948648" y="2865750"/>
            <a:ext cx="6136201" cy="457200"/>
            <a:chOff x="1948648" y="1665600"/>
            <a:chExt cx="6136201" cy="457200"/>
          </a:xfrm>
        </p:grpSpPr>
        <p:sp>
          <p:nvSpPr>
            <p:cNvPr id="447" name="Google Shape;447;p44"/>
            <p:cNvSpPr txBox="1"/>
            <p:nvPr/>
          </p:nvSpPr>
          <p:spPr>
            <a:xfrm>
              <a:off x="3214649" y="1665600"/>
              <a:ext cx="4870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Retorna la clase de un objeto</a:t>
              </a:r>
              <a:endParaRPr sz="20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48" name="Google Shape;448;p44"/>
            <p:cNvSpPr txBox="1"/>
            <p:nvPr/>
          </p:nvSpPr>
          <p:spPr>
            <a:xfrm>
              <a:off x="1948648" y="1665600"/>
              <a:ext cx="1266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Quantico"/>
                  <a:ea typeface="Quantico"/>
                  <a:cs typeface="Quantico"/>
                  <a:sym typeface="Quantico"/>
                </a:rPr>
                <a:t>{class</a:t>
              </a:r>
              <a:r>
                <a:rPr lang="en" sz="2600">
                  <a:solidFill>
                    <a:schemeClr val="accent3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18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449" name="Google Shape;449;p44"/>
          <p:cNvGrpSpPr/>
          <p:nvPr/>
        </p:nvGrpSpPr>
        <p:grpSpPr>
          <a:xfrm>
            <a:off x="1948650" y="3443600"/>
            <a:ext cx="6201351" cy="457200"/>
            <a:chOff x="1948650" y="1665600"/>
            <a:chExt cx="6201351" cy="457200"/>
          </a:xfrm>
        </p:grpSpPr>
        <p:sp>
          <p:nvSpPr>
            <p:cNvPr id="450" name="Google Shape;450;p44"/>
            <p:cNvSpPr txBox="1"/>
            <p:nvPr/>
          </p:nvSpPr>
          <p:spPr>
            <a:xfrm>
              <a:off x="4178001" y="1665600"/>
              <a:ext cx="39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Retorna la super clase de un objeto</a:t>
              </a:r>
              <a:endParaRPr sz="20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51" name="Google Shape;451;p44"/>
            <p:cNvSpPr txBox="1"/>
            <p:nvPr/>
          </p:nvSpPr>
          <p:spPr>
            <a:xfrm>
              <a:off x="1948650" y="1665600"/>
              <a:ext cx="2175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Quantico"/>
                  <a:ea typeface="Quantico"/>
                  <a:cs typeface="Quantico"/>
                  <a:sym typeface="Quantico"/>
                </a:rPr>
                <a:t>{superclass</a:t>
              </a:r>
              <a:r>
                <a:rPr lang="en" sz="2600">
                  <a:solidFill>
                    <a:srgbClr val="00C3B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1800">
                <a:solidFill>
                  <a:srgbClr val="00C3B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452" name="Google Shape;452;p44"/>
          <p:cNvGrpSpPr/>
          <p:nvPr/>
        </p:nvGrpSpPr>
        <p:grpSpPr>
          <a:xfrm>
            <a:off x="1948651" y="4021450"/>
            <a:ext cx="6558699" cy="457200"/>
            <a:chOff x="1948651" y="1665600"/>
            <a:chExt cx="6558699" cy="457200"/>
          </a:xfrm>
        </p:grpSpPr>
        <p:sp>
          <p:nvSpPr>
            <p:cNvPr id="453" name="Google Shape;453;p44"/>
            <p:cNvSpPr txBox="1"/>
            <p:nvPr/>
          </p:nvSpPr>
          <p:spPr>
            <a:xfrm>
              <a:off x="3517750" y="1665600"/>
              <a:ext cx="4989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Indica si el objeto es nil o no</a:t>
              </a:r>
              <a:endParaRPr sz="20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454" name="Google Shape;454;p44"/>
            <p:cNvSpPr txBox="1"/>
            <p:nvPr/>
          </p:nvSpPr>
          <p:spPr>
            <a:xfrm>
              <a:off x="1948651" y="1665600"/>
              <a:ext cx="1623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Quantico"/>
                  <a:ea typeface="Quantico"/>
                  <a:cs typeface="Quantico"/>
                  <a:sym typeface="Quantico"/>
                </a:rPr>
                <a:t>{notNill</a:t>
              </a:r>
              <a:r>
                <a:rPr lang="en" sz="2600">
                  <a:solidFill>
                    <a:schemeClr val="dk1"/>
                  </a:solidFill>
                  <a:latin typeface="Quantico"/>
                  <a:ea typeface="Quantico"/>
                  <a:cs typeface="Quantico"/>
                  <a:sym typeface="Quantico"/>
                </a:rPr>
                <a:t>}</a:t>
              </a:r>
              <a:endParaRPr sz="18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45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460" name="Google Shape;460;p45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5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45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463" name="Google Shape;463;p45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5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45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466" name="Google Shape;466;p45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5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45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41610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Especificación clase simple</a:t>
            </a:r>
            <a:endParaRPr sz="4600"/>
          </a:p>
        </p:txBody>
      </p:sp>
      <p:sp>
        <p:nvSpPr>
          <p:cNvPr id="469" name="Google Shape;469;p45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470" name="Google Shape;470;p45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pic>
        <p:nvPicPr>
          <p:cNvPr id="471" name="Google Shape;47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255" y="1609300"/>
            <a:ext cx="1520550" cy="1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Especificación clase Remedio</a:t>
            </a:r>
            <a:endParaRPr/>
          </a:p>
        </p:txBody>
      </p:sp>
      <p:sp>
        <p:nvSpPr>
          <p:cNvPr id="477" name="Google Shape;477;p46"/>
          <p:cNvSpPr txBox="1"/>
          <p:nvPr/>
        </p:nvSpPr>
        <p:spPr>
          <a:xfrm>
            <a:off x="936320" y="956125"/>
            <a:ext cx="7181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Definición: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Object subclass: #Remedio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instanceVariableNames: ‘nombre precio stock laborat’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classVariableNames:’’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PoolDictionaries:’’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8" name="Google Shape;478;p46"/>
          <p:cNvSpPr txBox="1"/>
          <p:nvPr/>
        </p:nvSpPr>
        <p:spPr>
          <a:xfrm>
            <a:off x="936325" y="3102648"/>
            <a:ext cx="71817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clase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crear:nom con:unPre con:unSt con:unLab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Crea una instancia de la clase Remedio y la inicializa con sus datos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 txBox="1"/>
          <p:nvPr/>
        </p:nvSpPr>
        <p:spPr>
          <a:xfrm>
            <a:off x="981150" y="837450"/>
            <a:ext cx="7443000" cy="4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&gt;&gt;iniciar: unNom pre:unPre stock:unStock laborat:unLab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Inicializa el remedio con sus datos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&gt;&gt;verNombre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nombre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&gt;&gt;verStock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 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stock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&gt;&gt;verPrecio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precio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&gt;&gt;verLab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laboratorio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&gt;&gt;modNombre: otroNom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nombre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&gt;&gt;modStock: otroSt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stock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&gt;&gt;modPrecio: otroPre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precio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&gt;&gt;modLab: otroLab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laboratorio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84" name="Google Shape;484;p47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Especificación clase Remedio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9" name="Google Shape;489;p48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490" name="Google Shape;490;p48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" name="Google Shape;492;p48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493" name="Google Shape;493;p48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8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48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496" name="Google Shape;496;p48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8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48"/>
          <p:cNvSpPr txBox="1">
            <a:spLocks noGrp="1"/>
          </p:cNvSpPr>
          <p:nvPr>
            <p:ph type="title"/>
          </p:nvPr>
        </p:nvSpPr>
        <p:spPr>
          <a:xfrm>
            <a:off x="1045150" y="1866000"/>
            <a:ext cx="39435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Desarrollar Aplicación</a:t>
            </a:r>
            <a:endParaRPr sz="4600"/>
          </a:p>
        </p:txBody>
      </p:sp>
      <p:sp>
        <p:nvSpPr>
          <p:cNvPr id="499" name="Google Shape;499;p48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500" name="Google Shape;500;p48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501" name="Google Shape;501;p48"/>
          <p:cNvGrpSpPr/>
          <p:nvPr/>
        </p:nvGrpSpPr>
        <p:grpSpPr>
          <a:xfrm>
            <a:off x="6091703" y="1663285"/>
            <a:ext cx="1560964" cy="1412028"/>
            <a:chOff x="2633105" y="2431859"/>
            <a:chExt cx="363243" cy="328585"/>
          </a:xfrm>
        </p:grpSpPr>
        <p:sp>
          <p:nvSpPr>
            <p:cNvPr id="502" name="Google Shape;502;p48"/>
            <p:cNvSpPr/>
            <p:nvPr/>
          </p:nvSpPr>
          <p:spPr>
            <a:xfrm>
              <a:off x="2633105" y="2498260"/>
              <a:ext cx="250462" cy="262184"/>
            </a:xfrm>
            <a:custGeom>
              <a:avLst/>
              <a:gdLst/>
              <a:ahLst/>
              <a:cxnLst/>
              <a:rect l="l" t="t" r="r" b="b"/>
              <a:pathLst>
                <a:path w="7906" h="8276" extrusionOk="0">
                  <a:moveTo>
                    <a:pt x="5322" y="6644"/>
                  </a:moveTo>
                  <a:lnTo>
                    <a:pt x="5465" y="7263"/>
                  </a:lnTo>
                  <a:lnTo>
                    <a:pt x="4560" y="7263"/>
                  </a:lnTo>
                  <a:lnTo>
                    <a:pt x="4691" y="6644"/>
                  </a:lnTo>
                  <a:close/>
                  <a:moveTo>
                    <a:pt x="6465" y="7608"/>
                  </a:moveTo>
                  <a:lnTo>
                    <a:pt x="6465" y="7954"/>
                  </a:lnTo>
                  <a:lnTo>
                    <a:pt x="3548" y="7954"/>
                  </a:lnTo>
                  <a:lnTo>
                    <a:pt x="3548" y="7608"/>
                  </a:lnTo>
                  <a:close/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lnTo>
                    <a:pt x="0" y="6489"/>
                  </a:lnTo>
                  <a:cubicBezTo>
                    <a:pt x="0" y="6585"/>
                    <a:pt x="84" y="6656"/>
                    <a:pt x="167" y="6656"/>
                  </a:cubicBezTo>
                  <a:lnTo>
                    <a:pt x="4346" y="6656"/>
                  </a:lnTo>
                  <a:lnTo>
                    <a:pt x="4203" y="7287"/>
                  </a:lnTo>
                  <a:lnTo>
                    <a:pt x="3370" y="7287"/>
                  </a:lnTo>
                  <a:cubicBezTo>
                    <a:pt x="3274" y="7287"/>
                    <a:pt x="3203" y="7358"/>
                    <a:pt x="3203" y="7442"/>
                  </a:cubicBezTo>
                  <a:lnTo>
                    <a:pt x="3203" y="8120"/>
                  </a:lnTo>
                  <a:cubicBezTo>
                    <a:pt x="3203" y="8204"/>
                    <a:pt x="3274" y="8275"/>
                    <a:pt x="3370" y="8275"/>
                  </a:cubicBezTo>
                  <a:lnTo>
                    <a:pt x="6632" y="8275"/>
                  </a:lnTo>
                  <a:cubicBezTo>
                    <a:pt x="6715" y="8275"/>
                    <a:pt x="6787" y="8204"/>
                    <a:pt x="6787" y="8120"/>
                  </a:cubicBezTo>
                  <a:lnTo>
                    <a:pt x="6787" y="7442"/>
                  </a:lnTo>
                  <a:cubicBezTo>
                    <a:pt x="6787" y="7358"/>
                    <a:pt x="6715" y="7287"/>
                    <a:pt x="6632" y="7287"/>
                  </a:cubicBezTo>
                  <a:lnTo>
                    <a:pt x="5787" y="7287"/>
                  </a:lnTo>
                  <a:lnTo>
                    <a:pt x="5644" y="6656"/>
                  </a:lnTo>
                  <a:lnTo>
                    <a:pt x="7727" y="6656"/>
                  </a:lnTo>
                  <a:cubicBezTo>
                    <a:pt x="7823" y="6656"/>
                    <a:pt x="7894" y="6585"/>
                    <a:pt x="7894" y="6489"/>
                  </a:cubicBezTo>
                  <a:cubicBezTo>
                    <a:pt x="7906" y="6394"/>
                    <a:pt x="7834" y="6311"/>
                    <a:pt x="7739" y="6311"/>
                  </a:cubicBezTo>
                  <a:lnTo>
                    <a:pt x="345" y="6311"/>
                  </a:lnTo>
                  <a:lnTo>
                    <a:pt x="345" y="334"/>
                  </a:lnTo>
                  <a:lnTo>
                    <a:pt x="4763" y="334"/>
                  </a:lnTo>
                  <a:cubicBezTo>
                    <a:pt x="4858" y="334"/>
                    <a:pt x="4929" y="262"/>
                    <a:pt x="4929" y="167"/>
                  </a:cubicBezTo>
                  <a:cubicBezTo>
                    <a:pt x="4929" y="72"/>
                    <a:pt x="4858" y="0"/>
                    <a:pt x="4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8"/>
            <p:cNvSpPr/>
            <p:nvPr/>
          </p:nvSpPr>
          <p:spPr>
            <a:xfrm>
              <a:off x="2772655" y="2680800"/>
              <a:ext cx="38491" cy="10613"/>
            </a:xfrm>
            <a:custGeom>
              <a:avLst/>
              <a:gdLst/>
              <a:ahLst/>
              <a:cxnLst/>
              <a:rect l="l" t="t" r="r" b="b"/>
              <a:pathLst>
                <a:path w="1215" h="335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1048" y="334"/>
                  </a:lnTo>
                  <a:cubicBezTo>
                    <a:pt x="1132" y="334"/>
                    <a:pt x="1215" y="251"/>
                    <a:pt x="1215" y="168"/>
                  </a:cubicBezTo>
                  <a:cubicBezTo>
                    <a:pt x="1215" y="72"/>
                    <a:pt x="1132" y="1"/>
                    <a:pt x="1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8"/>
            <p:cNvSpPr/>
            <p:nvPr/>
          </p:nvSpPr>
          <p:spPr>
            <a:xfrm>
              <a:off x="2729286" y="2583131"/>
              <a:ext cx="35862" cy="35862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798" y="334"/>
                  </a:moveTo>
                  <a:lnTo>
                    <a:pt x="798" y="810"/>
                  </a:lnTo>
                  <a:lnTo>
                    <a:pt x="334" y="810"/>
                  </a:lnTo>
                  <a:lnTo>
                    <a:pt x="334" y="334"/>
                  </a:lnTo>
                  <a:close/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84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31" y="84"/>
                    <a:pt x="106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8"/>
            <p:cNvSpPr/>
            <p:nvPr/>
          </p:nvSpPr>
          <p:spPr>
            <a:xfrm>
              <a:off x="2774176" y="2583131"/>
              <a:ext cx="35482" cy="35862"/>
            </a:xfrm>
            <a:custGeom>
              <a:avLst/>
              <a:gdLst/>
              <a:ahLst/>
              <a:cxnLst/>
              <a:rect l="l" t="t" r="r" b="b"/>
              <a:pathLst>
                <a:path w="1120" h="1132" extrusionOk="0">
                  <a:moveTo>
                    <a:pt x="786" y="334"/>
                  </a:moveTo>
                  <a:lnTo>
                    <a:pt x="786" y="810"/>
                  </a:lnTo>
                  <a:lnTo>
                    <a:pt x="333" y="810"/>
                  </a:lnTo>
                  <a:lnTo>
                    <a:pt x="333" y="334"/>
                  </a:lnTo>
                  <a:close/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72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19" y="84"/>
                    <a:pt x="1036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2817926" y="2583131"/>
              <a:ext cx="35862" cy="35862"/>
            </a:xfrm>
            <a:custGeom>
              <a:avLst/>
              <a:gdLst/>
              <a:ahLst/>
              <a:cxnLst/>
              <a:rect l="l" t="t" r="r" b="b"/>
              <a:pathLst>
                <a:path w="1132" h="1132" extrusionOk="0">
                  <a:moveTo>
                    <a:pt x="798" y="334"/>
                  </a:moveTo>
                  <a:lnTo>
                    <a:pt x="798" y="810"/>
                  </a:lnTo>
                  <a:lnTo>
                    <a:pt x="334" y="810"/>
                  </a:lnTo>
                  <a:lnTo>
                    <a:pt x="334" y="334"/>
                  </a:lnTo>
                  <a:close/>
                  <a:moveTo>
                    <a:pt x="167" y="0"/>
                  </a:moveTo>
                  <a:cubicBezTo>
                    <a:pt x="84" y="0"/>
                    <a:pt x="0" y="84"/>
                    <a:pt x="0" y="167"/>
                  </a:cubicBezTo>
                  <a:lnTo>
                    <a:pt x="0" y="977"/>
                  </a:lnTo>
                  <a:cubicBezTo>
                    <a:pt x="0" y="1060"/>
                    <a:pt x="84" y="1131"/>
                    <a:pt x="167" y="1131"/>
                  </a:cubicBezTo>
                  <a:lnTo>
                    <a:pt x="953" y="1131"/>
                  </a:lnTo>
                  <a:cubicBezTo>
                    <a:pt x="1048" y="1131"/>
                    <a:pt x="1119" y="1060"/>
                    <a:pt x="1119" y="977"/>
                  </a:cubicBezTo>
                  <a:lnTo>
                    <a:pt x="1119" y="167"/>
                  </a:lnTo>
                  <a:cubicBezTo>
                    <a:pt x="1131" y="84"/>
                    <a:pt x="1060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8"/>
            <p:cNvSpPr/>
            <p:nvPr/>
          </p:nvSpPr>
          <p:spPr>
            <a:xfrm>
              <a:off x="2653475" y="2431859"/>
              <a:ext cx="342873" cy="275394"/>
            </a:xfrm>
            <a:custGeom>
              <a:avLst/>
              <a:gdLst/>
              <a:ahLst/>
              <a:cxnLst/>
              <a:rect l="l" t="t" r="r" b="b"/>
              <a:pathLst>
                <a:path w="10823" h="8693" extrusionOk="0">
                  <a:moveTo>
                    <a:pt x="6429" y="3001"/>
                  </a:moveTo>
                  <a:cubicBezTo>
                    <a:pt x="6715" y="3870"/>
                    <a:pt x="7489" y="4513"/>
                    <a:pt x="8406" y="4585"/>
                  </a:cubicBezTo>
                  <a:lnTo>
                    <a:pt x="8406" y="7359"/>
                  </a:lnTo>
                  <a:lnTo>
                    <a:pt x="310" y="7359"/>
                  </a:lnTo>
                  <a:lnTo>
                    <a:pt x="310" y="3001"/>
                  </a:lnTo>
                  <a:close/>
                  <a:moveTo>
                    <a:pt x="8608" y="1"/>
                  </a:moveTo>
                  <a:cubicBezTo>
                    <a:pt x="7430" y="1"/>
                    <a:pt x="6477" y="906"/>
                    <a:pt x="6358" y="2073"/>
                  </a:cubicBezTo>
                  <a:lnTo>
                    <a:pt x="4798" y="2073"/>
                  </a:lnTo>
                  <a:cubicBezTo>
                    <a:pt x="4703" y="2073"/>
                    <a:pt x="4632" y="2144"/>
                    <a:pt x="4632" y="2239"/>
                  </a:cubicBezTo>
                  <a:cubicBezTo>
                    <a:pt x="4632" y="2323"/>
                    <a:pt x="4703" y="2394"/>
                    <a:pt x="4798" y="2394"/>
                  </a:cubicBezTo>
                  <a:lnTo>
                    <a:pt x="6334" y="2394"/>
                  </a:lnTo>
                  <a:cubicBezTo>
                    <a:pt x="6334" y="2489"/>
                    <a:pt x="6358" y="2561"/>
                    <a:pt x="6370" y="2656"/>
                  </a:cubicBezTo>
                  <a:lnTo>
                    <a:pt x="167" y="2656"/>
                  </a:lnTo>
                  <a:cubicBezTo>
                    <a:pt x="72" y="2656"/>
                    <a:pt x="0" y="2727"/>
                    <a:pt x="0" y="2811"/>
                  </a:cubicBezTo>
                  <a:lnTo>
                    <a:pt x="0" y="7502"/>
                  </a:lnTo>
                  <a:cubicBezTo>
                    <a:pt x="0" y="7597"/>
                    <a:pt x="72" y="7668"/>
                    <a:pt x="167" y="7668"/>
                  </a:cubicBezTo>
                  <a:lnTo>
                    <a:pt x="8608" y="7668"/>
                  </a:lnTo>
                  <a:cubicBezTo>
                    <a:pt x="8692" y="7668"/>
                    <a:pt x="8763" y="7597"/>
                    <a:pt x="8763" y="7502"/>
                  </a:cubicBezTo>
                  <a:lnTo>
                    <a:pt x="8763" y="4561"/>
                  </a:lnTo>
                  <a:cubicBezTo>
                    <a:pt x="8858" y="4561"/>
                    <a:pt x="8966" y="4537"/>
                    <a:pt x="9049" y="4513"/>
                  </a:cubicBezTo>
                  <a:lnTo>
                    <a:pt x="9049" y="8371"/>
                  </a:lnTo>
                  <a:lnTo>
                    <a:pt x="7787" y="8371"/>
                  </a:lnTo>
                  <a:cubicBezTo>
                    <a:pt x="7692" y="8371"/>
                    <a:pt x="7620" y="8442"/>
                    <a:pt x="7620" y="8526"/>
                  </a:cubicBezTo>
                  <a:cubicBezTo>
                    <a:pt x="7620" y="8621"/>
                    <a:pt x="7692" y="8692"/>
                    <a:pt x="7787" y="8692"/>
                  </a:cubicBezTo>
                  <a:lnTo>
                    <a:pt x="9216" y="8692"/>
                  </a:lnTo>
                  <a:cubicBezTo>
                    <a:pt x="9299" y="8692"/>
                    <a:pt x="9382" y="8621"/>
                    <a:pt x="9382" y="8526"/>
                  </a:cubicBezTo>
                  <a:lnTo>
                    <a:pt x="9382" y="4406"/>
                  </a:lnTo>
                  <a:cubicBezTo>
                    <a:pt x="9632" y="4323"/>
                    <a:pt x="9858" y="4180"/>
                    <a:pt x="10061" y="4001"/>
                  </a:cubicBezTo>
                  <a:cubicBezTo>
                    <a:pt x="10466" y="3644"/>
                    <a:pt x="10728" y="3168"/>
                    <a:pt x="10823" y="2632"/>
                  </a:cubicBezTo>
                  <a:cubicBezTo>
                    <a:pt x="10823" y="2596"/>
                    <a:pt x="10763" y="2501"/>
                    <a:pt x="10668" y="2489"/>
                  </a:cubicBezTo>
                  <a:cubicBezTo>
                    <a:pt x="10656" y="2486"/>
                    <a:pt x="10643" y="2484"/>
                    <a:pt x="10630" y="2484"/>
                  </a:cubicBezTo>
                  <a:cubicBezTo>
                    <a:pt x="10558" y="2484"/>
                    <a:pt x="10488" y="2539"/>
                    <a:pt x="10478" y="2620"/>
                  </a:cubicBezTo>
                  <a:cubicBezTo>
                    <a:pt x="10359" y="3358"/>
                    <a:pt x="9835" y="3942"/>
                    <a:pt x="9168" y="4156"/>
                  </a:cubicBezTo>
                  <a:lnTo>
                    <a:pt x="9144" y="4156"/>
                  </a:lnTo>
                  <a:cubicBezTo>
                    <a:pt x="8966" y="4216"/>
                    <a:pt x="8763" y="4239"/>
                    <a:pt x="8573" y="4239"/>
                  </a:cubicBezTo>
                  <a:cubicBezTo>
                    <a:pt x="7513" y="4239"/>
                    <a:pt x="6656" y="3358"/>
                    <a:pt x="6656" y="2287"/>
                  </a:cubicBezTo>
                  <a:cubicBezTo>
                    <a:pt x="6656" y="1215"/>
                    <a:pt x="7513" y="346"/>
                    <a:pt x="8573" y="346"/>
                  </a:cubicBezTo>
                  <a:cubicBezTo>
                    <a:pt x="9513" y="346"/>
                    <a:pt x="10335" y="1061"/>
                    <a:pt x="10478" y="1989"/>
                  </a:cubicBezTo>
                  <a:cubicBezTo>
                    <a:pt x="10490" y="2084"/>
                    <a:pt x="10585" y="2144"/>
                    <a:pt x="10668" y="2144"/>
                  </a:cubicBezTo>
                  <a:cubicBezTo>
                    <a:pt x="10763" y="2132"/>
                    <a:pt x="10823" y="2037"/>
                    <a:pt x="10823" y="1953"/>
                  </a:cubicBezTo>
                  <a:cubicBezTo>
                    <a:pt x="10751" y="1418"/>
                    <a:pt x="10478" y="918"/>
                    <a:pt x="10073" y="572"/>
                  </a:cubicBezTo>
                  <a:cubicBezTo>
                    <a:pt x="9656" y="215"/>
                    <a:pt x="9144" y="1"/>
                    <a:pt x="8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8"/>
            <p:cNvSpPr/>
            <p:nvPr/>
          </p:nvSpPr>
          <p:spPr>
            <a:xfrm>
              <a:off x="2881286" y="2460529"/>
              <a:ext cx="87532" cy="87912"/>
            </a:xfrm>
            <a:custGeom>
              <a:avLst/>
              <a:gdLst/>
              <a:ahLst/>
              <a:cxnLst/>
              <a:rect l="l" t="t" r="r" b="b"/>
              <a:pathLst>
                <a:path w="2763" h="2775" extrusionOk="0">
                  <a:moveTo>
                    <a:pt x="1414" y="703"/>
                  </a:moveTo>
                  <a:cubicBezTo>
                    <a:pt x="1786" y="703"/>
                    <a:pt x="2084" y="1020"/>
                    <a:pt x="2084" y="1406"/>
                  </a:cubicBezTo>
                  <a:cubicBezTo>
                    <a:pt x="2084" y="1787"/>
                    <a:pt x="1775" y="2108"/>
                    <a:pt x="1394" y="2108"/>
                  </a:cubicBezTo>
                  <a:cubicBezTo>
                    <a:pt x="1013" y="2108"/>
                    <a:pt x="715" y="1787"/>
                    <a:pt x="715" y="1406"/>
                  </a:cubicBezTo>
                  <a:cubicBezTo>
                    <a:pt x="715" y="1013"/>
                    <a:pt x="1024" y="703"/>
                    <a:pt x="1394" y="703"/>
                  </a:cubicBezTo>
                  <a:cubicBezTo>
                    <a:pt x="1400" y="703"/>
                    <a:pt x="1407" y="703"/>
                    <a:pt x="1414" y="703"/>
                  </a:cubicBezTo>
                  <a:close/>
                  <a:moveTo>
                    <a:pt x="1382" y="1"/>
                  </a:moveTo>
                  <a:cubicBezTo>
                    <a:pt x="1286" y="1"/>
                    <a:pt x="1215" y="72"/>
                    <a:pt x="1215" y="167"/>
                  </a:cubicBezTo>
                  <a:lnTo>
                    <a:pt x="1215" y="370"/>
                  </a:lnTo>
                  <a:cubicBezTo>
                    <a:pt x="1048" y="406"/>
                    <a:pt x="917" y="465"/>
                    <a:pt x="786" y="560"/>
                  </a:cubicBezTo>
                  <a:lnTo>
                    <a:pt x="632" y="406"/>
                  </a:lnTo>
                  <a:cubicBezTo>
                    <a:pt x="607" y="374"/>
                    <a:pt x="559" y="356"/>
                    <a:pt x="511" y="356"/>
                  </a:cubicBezTo>
                  <a:cubicBezTo>
                    <a:pt x="467" y="356"/>
                    <a:pt x="422" y="371"/>
                    <a:pt x="393" y="406"/>
                  </a:cubicBezTo>
                  <a:cubicBezTo>
                    <a:pt x="334" y="465"/>
                    <a:pt x="322" y="584"/>
                    <a:pt x="393" y="644"/>
                  </a:cubicBezTo>
                  <a:lnTo>
                    <a:pt x="548" y="798"/>
                  </a:lnTo>
                  <a:cubicBezTo>
                    <a:pt x="453" y="929"/>
                    <a:pt x="393" y="1072"/>
                    <a:pt x="370" y="1227"/>
                  </a:cubicBezTo>
                  <a:lnTo>
                    <a:pt x="155" y="1227"/>
                  </a:lnTo>
                  <a:cubicBezTo>
                    <a:pt x="72" y="1227"/>
                    <a:pt x="0" y="1299"/>
                    <a:pt x="0" y="1394"/>
                  </a:cubicBezTo>
                  <a:cubicBezTo>
                    <a:pt x="0" y="1477"/>
                    <a:pt x="72" y="1549"/>
                    <a:pt x="155" y="1549"/>
                  </a:cubicBezTo>
                  <a:lnTo>
                    <a:pt x="370" y="1549"/>
                  </a:lnTo>
                  <a:cubicBezTo>
                    <a:pt x="393" y="1715"/>
                    <a:pt x="453" y="1870"/>
                    <a:pt x="548" y="1989"/>
                  </a:cubicBezTo>
                  <a:lnTo>
                    <a:pt x="393" y="2132"/>
                  </a:lnTo>
                  <a:cubicBezTo>
                    <a:pt x="334" y="2191"/>
                    <a:pt x="334" y="2311"/>
                    <a:pt x="393" y="2370"/>
                  </a:cubicBezTo>
                  <a:cubicBezTo>
                    <a:pt x="429" y="2406"/>
                    <a:pt x="477" y="2418"/>
                    <a:pt x="512" y="2418"/>
                  </a:cubicBezTo>
                  <a:cubicBezTo>
                    <a:pt x="560" y="2418"/>
                    <a:pt x="608" y="2394"/>
                    <a:pt x="632" y="2370"/>
                  </a:cubicBezTo>
                  <a:lnTo>
                    <a:pt x="786" y="2227"/>
                  </a:lnTo>
                  <a:cubicBezTo>
                    <a:pt x="905" y="2311"/>
                    <a:pt x="1048" y="2370"/>
                    <a:pt x="1215" y="2406"/>
                  </a:cubicBezTo>
                  <a:lnTo>
                    <a:pt x="1215" y="2608"/>
                  </a:lnTo>
                  <a:cubicBezTo>
                    <a:pt x="1215" y="2703"/>
                    <a:pt x="1286" y="2775"/>
                    <a:pt x="1382" y="2775"/>
                  </a:cubicBezTo>
                  <a:cubicBezTo>
                    <a:pt x="1465" y="2775"/>
                    <a:pt x="1548" y="2703"/>
                    <a:pt x="1548" y="2608"/>
                  </a:cubicBezTo>
                  <a:lnTo>
                    <a:pt x="1548" y="2430"/>
                  </a:lnTo>
                  <a:cubicBezTo>
                    <a:pt x="1703" y="2394"/>
                    <a:pt x="1846" y="2346"/>
                    <a:pt x="1977" y="2251"/>
                  </a:cubicBezTo>
                  <a:lnTo>
                    <a:pt x="2120" y="2394"/>
                  </a:lnTo>
                  <a:cubicBezTo>
                    <a:pt x="2156" y="2430"/>
                    <a:pt x="2203" y="2442"/>
                    <a:pt x="2239" y="2442"/>
                  </a:cubicBezTo>
                  <a:cubicBezTo>
                    <a:pt x="2286" y="2442"/>
                    <a:pt x="2334" y="2430"/>
                    <a:pt x="2358" y="2394"/>
                  </a:cubicBezTo>
                  <a:cubicBezTo>
                    <a:pt x="2417" y="2346"/>
                    <a:pt x="2441" y="2215"/>
                    <a:pt x="2358" y="2156"/>
                  </a:cubicBezTo>
                  <a:lnTo>
                    <a:pt x="2215" y="2013"/>
                  </a:lnTo>
                  <a:cubicBezTo>
                    <a:pt x="2298" y="1882"/>
                    <a:pt x="2358" y="1727"/>
                    <a:pt x="2394" y="1584"/>
                  </a:cubicBezTo>
                  <a:lnTo>
                    <a:pt x="2596" y="1584"/>
                  </a:lnTo>
                  <a:cubicBezTo>
                    <a:pt x="2691" y="1584"/>
                    <a:pt x="2763" y="1501"/>
                    <a:pt x="2763" y="1418"/>
                  </a:cubicBezTo>
                  <a:cubicBezTo>
                    <a:pt x="2763" y="1299"/>
                    <a:pt x="2691" y="1227"/>
                    <a:pt x="2608" y="1227"/>
                  </a:cubicBezTo>
                  <a:lnTo>
                    <a:pt x="2394" y="1227"/>
                  </a:lnTo>
                  <a:cubicBezTo>
                    <a:pt x="2370" y="1060"/>
                    <a:pt x="2310" y="906"/>
                    <a:pt x="2215" y="798"/>
                  </a:cubicBezTo>
                  <a:lnTo>
                    <a:pt x="2370" y="644"/>
                  </a:lnTo>
                  <a:cubicBezTo>
                    <a:pt x="2417" y="584"/>
                    <a:pt x="2417" y="465"/>
                    <a:pt x="2370" y="406"/>
                  </a:cubicBezTo>
                  <a:cubicBezTo>
                    <a:pt x="2340" y="376"/>
                    <a:pt x="2292" y="361"/>
                    <a:pt x="2245" y="361"/>
                  </a:cubicBezTo>
                  <a:cubicBezTo>
                    <a:pt x="2197" y="361"/>
                    <a:pt x="2150" y="376"/>
                    <a:pt x="2120" y="406"/>
                  </a:cubicBezTo>
                  <a:lnTo>
                    <a:pt x="1977" y="560"/>
                  </a:lnTo>
                  <a:cubicBezTo>
                    <a:pt x="1858" y="465"/>
                    <a:pt x="1715" y="406"/>
                    <a:pt x="1548" y="370"/>
                  </a:cubicBezTo>
                  <a:lnTo>
                    <a:pt x="1548" y="167"/>
                  </a:lnTo>
                  <a:cubicBezTo>
                    <a:pt x="1548" y="72"/>
                    <a:pt x="1477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8"/>
            <p:cNvSpPr/>
            <p:nvPr/>
          </p:nvSpPr>
          <p:spPr>
            <a:xfrm>
              <a:off x="2908436" y="2488059"/>
              <a:ext cx="33612" cy="33993"/>
            </a:xfrm>
            <a:custGeom>
              <a:avLst/>
              <a:gdLst/>
              <a:ahLst/>
              <a:cxnLst/>
              <a:rect l="l" t="t" r="r" b="b"/>
              <a:pathLst>
                <a:path w="1061" h="1073" extrusionOk="0">
                  <a:moveTo>
                    <a:pt x="525" y="346"/>
                  </a:moveTo>
                  <a:cubicBezTo>
                    <a:pt x="632" y="346"/>
                    <a:pt x="715" y="430"/>
                    <a:pt x="715" y="537"/>
                  </a:cubicBezTo>
                  <a:cubicBezTo>
                    <a:pt x="715" y="632"/>
                    <a:pt x="632" y="727"/>
                    <a:pt x="525" y="727"/>
                  </a:cubicBezTo>
                  <a:cubicBezTo>
                    <a:pt x="417" y="727"/>
                    <a:pt x="334" y="632"/>
                    <a:pt x="334" y="537"/>
                  </a:cubicBezTo>
                  <a:cubicBezTo>
                    <a:pt x="334" y="430"/>
                    <a:pt x="417" y="346"/>
                    <a:pt x="525" y="346"/>
                  </a:cubicBezTo>
                  <a:close/>
                  <a:moveTo>
                    <a:pt x="525" y="1"/>
                  </a:moveTo>
                  <a:cubicBezTo>
                    <a:pt x="239" y="1"/>
                    <a:pt x="1" y="239"/>
                    <a:pt x="1" y="537"/>
                  </a:cubicBezTo>
                  <a:cubicBezTo>
                    <a:pt x="1" y="834"/>
                    <a:pt x="239" y="1072"/>
                    <a:pt x="525" y="1072"/>
                  </a:cubicBezTo>
                  <a:cubicBezTo>
                    <a:pt x="810" y="1072"/>
                    <a:pt x="1048" y="834"/>
                    <a:pt x="1048" y="537"/>
                  </a:cubicBezTo>
                  <a:cubicBezTo>
                    <a:pt x="1060" y="239"/>
                    <a:pt x="822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Enunciado</a:t>
            </a:r>
            <a:endParaRPr/>
          </a:p>
        </p:txBody>
      </p:sp>
      <p:sp>
        <p:nvSpPr>
          <p:cNvPr id="515" name="Google Shape;515;p49"/>
          <p:cNvSpPr txBox="1"/>
          <p:nvPr/>
        </p:nvSpPr>
        <p:spPr>
          <a:xfrm>
            <a:off x="936325" y="1337125"/>
            <a:ext cx="7181700" cy="30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Teniendo en cuenta la especificación de la clase remedio, escribir una aplicación que permita crear y cargar dos instancias de la clase. Luego: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+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Retornar el nombre y el stock del remedio más económico.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ntico"/>
              <a:buChar char="+"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Realizar un incremento del 20% al remedio con menor stock. Mostrar dicho cambio en el Transcript.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50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521" name="Google Shape;521;p50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50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3" name="Google Shape;523;p50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524" name="Google Shape;524;p50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0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6" name="Google Shape;526;p50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527" name="Google Shape;527;p50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50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9" name="Google Shape;529;p50"/>
          <p:cNvSpPr txBox="1">
            <a:spLocks noGrp="1"/>
          </p:cNvSpPr>
          <p:nvPr>
            <p:ph type="title"/>
          </p:nvPr>
        </p:nvSpPr>
        <p:spPr>
          <a:xfrm>
            <a:off x="841925" y="1746950"/>
            <a:ext cx="46050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Implementación clase simple</a:t>
            </a:r>
            <a:endParaRPr sz="4600"/>
          </a:p>
        </p:txBody>
      </p:sp>
      <p:sp>
        <p:nvSpPr>
          <p:cNvPr id="530" name="Google Shape;530;p50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2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lt2"/>
              </a:solidFill>
            </a:endParaRPr>
          </a:p>
        </p:txBody>
      </p:sp>
      <p:sp>
        <p:nvSpPr>
          <p:cNvPr id="531" name="Google Shape;531;p50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pic>
        <p:nvPicPr>
          <p:cNvPr id="532" name="Google Shape;53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5255" y="1609300"/>
            <a:ext cx="1520550" cy="1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1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&lt;/</a:t>
            </a:r>
            <a:r>
              <a:rPr lang="en"/>
              <a:t>Implementación clase Remedio</a:t>
            </a:r>
            <a:endParaRPr/>
          </a:p>
        </p:txBody>
      </p:sp>
      <p:sp>
        <p:nvSpPr>
          <p:cNvPr id="538" name="Google Shape;538;p51"/>
          <p:cNvSpPr txBox="1"/>
          <p:nvPr/>
        </p:nvSpPr>
        <p:spPr>
          <a:xfrm>
            <a:off x="497900" y="956125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Definición: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Object subclass: #Remedio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instanceVariableNames: ‘nombre precio stock laborat’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classVariableNames:’’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PoolDictionaries:’’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39" name="Google Shape;539;p51"/>
          <p:cNvSpPr txBox="1"/>
          <p:nvPr/>
        </p:nvSpPr>
        <p:spPr>
          <a:xfrm>
            <a:off x="497900" y="2875350"/>
            <a:ext cx="82476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clase</a:t>
            </a:r>
            <a:endParaRPr sz="22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crear:nom con:unPre con:unSt con:unLab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 dirty="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Crea una instancia de la clase Remedio y la inicializa con sus datos</a:t>
            </a:r>
            <a:r>
              <a:rPr lang="en" sz="2000" dirty="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 dirty="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^self new iniciar: unNom pre: unPre stock: unStock laborat: unLab</a:t>
            </a:r>
            <a:endParaRPr sz="2000" dirty="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 txBox="1"/>
          <p:nvPr/>
        </p:nvSpPr>
        <p:spPr>
          <a:xfrm>
            <a:off x="981000" y="1115500"/>
            <a:ext cx="7443000" cy="30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 Inicializar 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&gt;&gt;iniciar: unNom pre:unPre stock:unStock laborat:unLab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Inicializa el remedio con sus datos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nombre:=unNom.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precio:=unPre.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stock:=unStock.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laborat:=unLab.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5" name="Google Shape;545;p52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Implementación clase Remedio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3"/>
          <p:cNvSpPr txBox="1"/>
          <p:nvPr/>
        </p:nvSpPr>
        <p:spPr>
          <a:xfrm>
            <a:off x="981000" y="1104025"/>
            <a:ext cx="74430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 ver atributos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&gt;&gt;verNombre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nombre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    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^nombre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&gt;&gt;verStock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 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stock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^precio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&gt;&gt;verPrecio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precio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^stock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&gt;&gt;verLab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el laboratorio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^laborat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Implementación clase Remedio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"/>
          <p:cNvSpPr txBox="1"/>
          <p:nvPr/>
        </p:nvSpPr>
        <p:spPr>
          <a:xfrm>
            <a:off x="981000" y="1104025"/>
            <a:ext cx="74430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Métodos de Instancia: modificar atributos</a:t>
            </a:r>
            <a:endParaRPr sz="22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&gt;&gt;modNombre: otroNom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nombre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     </a:t>
            </a: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nombre:=otroNom.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&gt;&gt;modStock: otroSt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stock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precio:=otroPre.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&gt;&gt;modPrecio: otroPre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precio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stock:=otroStock.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&gt;&gt;modLab: otroLab 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sz="2000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Modifica el laboratorio del remedio</a:t>
            </a:r>
            <a:r>
              <a:rPr lang="en" sz="20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 sz="2000"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laborat:otroLab.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7" name="Google Shape;557;p54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&lt;/</a:t>
            </a:r>
            <a:r>
              <a:rPr lang="en"/>
              <a:t>Implementación clase Remedio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55"/>
          <p:cNvGrpSpPr/>
          <p:nvPr/>
        </p:nvGrpSpPr>
        <p:grpSpPr>
          <a:xfrm>
            <a:off x="772525" y="726625"/>
            <a:ext cx="6578100" cy="3438300"/>
            <a:chOff x="772525" y="726625"/>
            <a:chExt cx="6578100" cy="3438300"/>
          </a:xfrm>
        </p:grpSpPr>
        <p:sp>
          <p:nvSpPr>
            <p:cNvPr id="563" name="Google Shape;563;p55"/>
            <p:cNvSpPr/>
            <p:nvPr/>
          </p:nvSpPr>
          <p:spPr>
            <a:xfrm>
              <a:off x="772525" y="726625"/>
              <a:ext cx="6578100" cy="3438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5"/>
            <p:cNvSpPr/>
            <p:nvPr/>
          </p:nvSpPr>
          <p:spPr>
            <a:xfrm>
              <a:off x="772525" y="726625"/>
              <a:ext cx="65781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565;p55"/>
          <p:cNvGrpSpPr/>
          <p:nvPr/>
        </p:nvGrpSpPr>
        <p:grpSpPr>
          <a:xfrm>
            <a:off x="3993600" y="3441475"/>
            <a:ext cx="2119748" cy="1127400"/>
            <a:chOff x="4924170" y="3441525"/>
            <a:chExt cx="3447305" cy="1127400"/>
          </a:xfrm>
        </p:grpSpPr>
        <p:sp>
          <p:nvSpPr>
            <p:cNvPr id="566" name="Google Shape;566;p55"/>
            <p:cNvSpPr/>
            <p:nvPr/>
          </p:nvSpPr>
          <p:spPr>
            <a:xfrm>
              <a:off x="4924170" y="3441525"/>
              <a:ext cx="3447300" cy="112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5"/>
            <p:cNvSpPr/>
            <p:nvPr/>
          </p:nvSpPr>
          <p:spPr>
            <a:xfrm>
              <a:off x="4924175" y="3441525"/>
              <a:ext cx="3447300" cy="25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55"/>
          <p:cNvGrpSpPr/>
          <p:nvPr/>
        </p:nvGrpSpPr>
        <p:grpSpPr>
          <a:xfrm>
            <a:off x="5422275" y="1302375"/>
            <a:ext cx="2560700" cy="1952840"/>
            <a:chOff x="-227375" y="1029588"/>
            <a:chExt cx="4718446" cy="4667400"/>
          </a:xfrm>
        </p:grpSpPr>
        <p:sp>
          <p:nvSpPr>
            <p:cNvPr id="569" name="Google Shape;569;p55"/>
            <p:cNvSpPr/>
            <p:nvPr/>
          </p:nvSpPr>
          <p:spPr>
            <a:xfrm>
              <a:off x="-227375" y="1029588"/>
              <a:ext cx="4718400" cy="4667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5"/>
            <p:cNvSpPr/>
            <p:nvPr/>
          </p:nvSpPr>
          <p:spPr>
            <a:xfrm>
              <a:off x="-227329" y="1029588"/>
              <a:ext cx="4718400" cy="610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55"/>
          <p:cNvSpPr txBox="1">
            <a:spLocks noGrp="1"/>
          </p:cNvSpPr>
          <p:nvPr>
            <p:ph type="title"/>
          </p:nvPr>
        </p:nvSpPr>
        <p:spPr>
          <a:xfrm>
            <a:off x="841925" y="1746950"/>
            <a:ext cx="4605000" cy="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Ejercicios para resolver</a:t>
            </a:r>
            <a:endParaRPr sz="4600"/>
          </a:p>
        </p:txBody>
      </p:sp>
      <p:sp>
        <p:nvSpPr>
          <p:cNvPr id="572" name="Google Shape;572;p55"/>
          <p:cNvSpPr txBox="1"/>
          <p:nvPr/>
        </p:nvSpPr>
        <p:spPr>
          <a:xfrm>
            <a:off x="841925" y="1094475"/>
            <a:ext cx="10773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&lt;/&gt;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573" name="Google Shape;573;p55"/>
          <p:cNvSpPr txBox="1"/>
          <p:nvPr/>
        </p:nvSpPr>
        <p:spPr>
          <a:xfrm>
            <a:off x="4445082" y="3760875"/>
            <a:ext cx="1216800" cy="7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2"/>
                </a:solidFill>
              </a:rPr>
              <a:t>}</a:t>
            </a:r>
            <a:r>
              <a:rPr lang="en" sz="3600">
                <a:solidFill>
                  <a:schemeClr val="dk1"/>
                </a:solidFill>
              </a:rPr>
              <a:t> /&gt; </a:t>
            </a:r>
            <a:r>
              <a:rPr lang="en" sz="3600">
                <a:solidFill>
                  <a:schemeClr val="accent1"/>
                </a:solidFill>
              </a:rPr>
              <a:t>[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574" name="Google Shape;574;p55"/>
          <p:cNvGrpSpPr/>
          <p:nvPr/>
        </p:nvGrpSpPr>
        <p:grpSpPr>
          <a:xfrm>
            <a:off x="6230092" y="1746938"/>
            <a:ext cx="1013310" cy="1324762"/>
            <a:chOff x="1367060" y="2422129"/>
            <a:chExt cx="269261" cy="352050"/>
          </a:xfrm>
        </p:grpSpPr>
        <p:sp>
          <p:nvSpPr>
            <p:cNvPr id="575" name="Google Shape;575;p55"/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55"/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55"/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55"/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55"/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55"/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55"/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55"/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55"/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55"/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55"/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55"/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55"/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55"/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6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&lt;/</a:t>
            </a:r>
            <a:r>
              <a:rPr lang="en"/>
              <a:t>Enunciado</a:t>
            </a:r>
            <a:endParaRPr/>
          </a:p>
        </p:txBody>
      </p:sp>
      <p:sp>
        <p:nvSpPr>
          <p:cNvPr id="594" name="Google Shape;594;p56"/>
          <p:cNvSpPr txBox="1"/>
          <p:nvPr/>
        </p:nvSpPr>
        <p:spPr>
          <a:xfrm>
            <a:off x="936325" y="1337125"/>
            <a:ext cx="7181700" cy="30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Teniendo en cuenta la especificación de la clase Robot (siguiente filmina), desarrolle la siguiente aplicación: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Suponer que se tiene una grilla que representa una ciudad de 50*50 cuadras. Desarrollar una aplicación que permita crear un robot llamado ‘Rolo’, posicionarlo en la esquina (20,30) y hacer que recorra un rectángulo de 5 cuadras de altura por 10 cuadras de ancho.</a:t>
            </a:r>
            <a:endParaRPr sz="2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7"/>
          <p:cNvSpPr txBox="1">
            <a:spLocks noGrp="1"/>
          </p:cNvSpPr>
          <p:nvPr>
            <p:ph type="title"/>
          </p:nvPr>
        </p:nvSpPr>
        <p:spPr>
          <a:xfrm>
            <a:off x="720000" y="158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&lt;/</a:t>
            </a:r>
            <a:r>
              <a:rPr lang="en"/>
              <a:t>Especificación clase Robot</a:t>
            </a:r>
            <a:endParaRPr/>
          </a:p>
        </p:txBody>
      </p:sp>
      <p:sp>
        <p:nvSpPr>
          <p:cNvPr id="600" name="Google Shape;600;p57"/>
          <p:cNvSpPr txBox="1"/>
          <p:nvPr/>
        </p:nvSpPr>
        <p:spPr>
          <a:xfrm>
            <a:off x="981000" y="1104025"/>
            <a:ext cx="74430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Método(s) de clase: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&gt;&gt;crearRobot: unNombre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Retorna al robot posicionado en la esquina (1,1), con orientación hacia el norte, con el nombre ‘unNombre’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&gt;&gt;mover 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Posiciona al robot en la esquina siguiente sin modificar su orientación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&gt;&gt;derecha 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rota 90° a la derecha al robot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&gt;&gt;izquierda 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</a:t>
            </a:r>
            <a:r>
              <a:rPr lang="en" i="1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rota 90° a la izquierda al robot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”</a:t>
            </a:r>
            <a:endParaRPr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&gt;&gt;posx 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“retorna la coordenada x de la esquina donde está el robot”</a:t>
            </a:r>
            <a:endParaRPr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&gt;&gt;posy 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“retorna la coordenada y de la esquina donde está el robot”</a:t>
            </a:r>
            <a:endParaRPr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&gt;&gt;posx:unX posy:unY </a:t>
            </a:r>
            <a:r>
              <a:rPr lang="en"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rPr>
              <a:t>“Posiciona al robot en la esquina (x,y)”</a:t>
            </a:r>
            <a:endParaRPr>
              <a:solidFill>
                <a:schemeClr val="accent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831</Words>
  <Application>Microsoft Office PowerPoint</Application>
  <PresentationFormat>Presentación en pantalla (16:9)</PresentationFormat>
  <Paragraphs>141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21</vt:i4>
      </vt:variant>
    </vt:vector>
  </HeadingPairs>
  <TitlesOfParts>
    <vt:vector size="31" baseType="lpstr">
      <vt:lpstr>PT Sans</vt:lpstr>
      <vt:lpstr>Quantico</vt:lpstr>
      <vt:lpstr>Source Code Pro</vt:lpstr>
      <vt:lpstr>Anaheim</vt:lpstr>
      <vt:lpstr>Fira Sans Extra Condensed</vt:lpstr>
      <vt:lpstr>Nunito Light</vt:lpstr>
      <vt:lpstr>Arial</vt:lpstr>
      <vt:lpstr>Denk One</vt:lpstr>
      <vt:lpstr>New Operating System Design Pitch Deck by Slidesgo</vt:lpstr>
      <vt:lpstr>New Operating System Design Pitch Deck  Infographics by Slidesgo</vt:lpstr>
      <vt:lpstr>Paradigmas de Programación</vt:lpstr>
      <vt:lpstr>Mensajes más comunes. Especificación de clase simple. Desarrollo de una aplicación utilizando la especificación de una clase. Implementación de clase simple. Desarrollar Aplicación en Dolphin. Ejercicios para resolver.</vt:lpstr>
      <vt:lpstr>Repaso</vt:lpstr>
      <vt:lpstr>Mensajes más comunes</vt:lpstr>
      <vt:lpstr>&lt;/Clase Transcript</vt:lpstr>
      <vt:lpstr>&lt;/Clase MessageBox</vt:lpstr>
      <vt:lpstr>&lt;/Clase Prompter</vt:lpstr>
      <vt:lpstr>&lt;/Otros mensajes</vt:lpstr>
      <vt:lpstr>Especificación clase simple</vt:lpstr>
      <vt:lpstr>&lt;/Especificación clase Remedio</vt:lpstr>
      <vt:lpstr>&lt;/Especificación clase Remedio</vt:lpstr>
      <vt:lpstr>Desarrollar Aplicación</vt:lpstr>
      <vt:lpstr>&lt;/Enunciado</vt:lpstr>
      <vt:lpstr>Implementación clase simple</vt:lpstr>
      <vt:lpstr>&lt;/Implementación clase Remedio</vt:lpstr>
      <vt:lpstr>&lt;/Implementación clase Remedio</vt:lpstr>
      <vt:lpstr>&lt;/Implementación clase Remedio</vt:lpstr>
      <vt:lpstr>&lt;/Implementación clase Remedio</vt:lpstr>
      <vt:lpstr>Ejercicios para resolver</vt:lpstr>
      <vt:lpstr>&lt;/Enunciado</vt:lpstr>
      <vt:lpstr>&lt;/Especificación clase Robot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cp:lastModifiedBy>Paternoster, Felix</cp:lastModifiedBy>
  <cp:revision>4</cp:revision>
  <dcterms:modified xsi:type="dcterms:W3CDTF">2024-08-28T20:01:59Z</dcterms:modified>
</cp:coreProperties>
</file>