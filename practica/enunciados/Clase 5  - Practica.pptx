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_rels/notesSlide2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2.xml.rels" ContentType="application/vnd.openxmlformats-package.relationship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8" r:id="rId10"/>
    <p:sldMasterId id="2147483670" r:id="rId11"/>
    <p:sldMasterId id="2147483672" r:id="rId12"/>
    <p:sldMasterId id="2147483674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Pulse para desplazar la diapositiva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 las notas</a:t>
            </a:r>
            <a:endParaRPr b="0" lang="es-A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A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A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A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A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es-A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AR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A5508CE-B967-4880-8FEA-10A9D47C19B5}" type="slidenum">
              <a:rPr b="0" lang="es-AR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es-AR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Arial"/>
              </a:rPr>
              <a:t>Podríamos agregar cátedra, facultad, </a:t>
            </a:r>
            <a:endParaRPr b="0" lang="es-AR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Arial"/>
              </a:rPr>
              <a:t>Podríamos agregar cátedra, facultad, </a:t>
            </a:r>
            <a:endParaRPr b="0" lang="es-AR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Arial"/>
              </a:rPr>
              <a:t>Podríamos agregar cátedra, facultad, </a:t>
            </a:r>
            <a:endParaRPr b="0" lang="es-AR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uFillTx/>
                <a:latin typeface="Arial"/>
              </a:rPr>
              <a:t>Podríamos agregar cátedra, facultad, </a:t>
            </a:r>
            <a:endParaRPr b="0" lang="es-AR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3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4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5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9;p2"/>
          <p:cNvSpPr/>
          <p:nvPr/>
        </p:nvSpPr>
        <p:spPr>
          <a:xfrm>
            <a:off x="0" y="0"/>
            <a:ext cx="9143640" cy="414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2062080" y="1289160"/>
            <a:ext cx="5019120" cy="180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s-AR" sz="36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Google Shape;12;p2"/>
          <p:cNvSpPr/>
          <p:nvPr/>
        </p:nvSpPr>
        <p:spPr>
          <a:xfrm>
            <a:off x="344160" y="4753800"/>
            <a:ext cx="84783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0" bIns="90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uFillTx/>
                <a:latin typeface="Source Code Pro"/>
                <a:ea typeface="Source Code Pro"/>
              </a:rPr>
              <a:t>1 0 1 1   0 1 1   0 1   1 0 1 1 0 0 1   1 0   1 1 0 1 1   0 1 1   0 1   1 1 0 1 1 0   1 1 0 1 1 1   1 1 0 1 </a:t>
            </a:r>
            <a:endParaRPr b="0" lang="es-A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 texto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Segundo nivel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Tercer nivel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Cuarto nivel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</a:rPr>
              <a:t>Quinto nivel del esquema</a:t>
            </a:r>
            <a:endParaRPr b="0" lang="es-A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</a:rPr>
              <a:t>Sexto nivel del esquema</a:t>
            </a:r>
            <a:endParaRPr b="0" lang="es-A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</a:rPr>
              <a:t>Séptimo nivel del esquema</a:t>
            </a:r>
            <a:endParaRPr b="0" lang="es-A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030120" y="1291680"/>
            <a:ext cx="4711320" cy="119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AR" sz="6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xx%</a:t>
            </a:r>
            <a:endParaRPr b="0" lang="es-AR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Google Shape;64;p11"/>
          <p:cNvSpPr/>
          <p:nvPr/>
        </p:nvSpPr>
        <p:spPr>
          <a:xfrm>
            <a:off x="344160" y="4753800"/>
            <a:ext cx="84783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0" bIns="90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uFillTx/>
                <a:latin typeface="Source Code Pro"/>
                <a:ea typeface="Source Code Pro"/>
              </a:rPr>
              <a:t>1 0 1 1   0 1 1   0 1   1 0 1 1 0 0 1   1 0   1 1 0 1 1   0 1 1   0 1   1 1 0 1 1 0   1 1 0 1 1 1   1 1 0 1 </a:t>
            </a:r>
            <a:endParaRPr b="0" lang="es-A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Google Shape;65;p11"/>
          <p:cNvSpPr/>
          <p:nvPr/>
        </p:nvSpPr>
        <p:spPr>
          <a:xfrm>
            <a:off x="11520" y="0"/>
            <a:ext cx="3048120" cy="414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Google Shape;66;p11"/>
          <p:cNvSpPr/>
          <p:nvPr/>
        </p:nvSpPr>
        <p:spPr>
          <a:xfrm>
            <a:off x="3059280" y="0"/>
            <a:ext cx="6084360" cy="414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69;p13"/>
          <p:cNvGrpSpPr/>
          <p:nvPr/>
        </p:nvGrpSpPr>
        <p:grpSpPr>
          <a:xfrm>
            <a:off x="396360" y="170280"/>
            <a:ext cx="8359920" cy="4398120"/>
            <a:chOff x="396360" y="170280"/>
            <a:chExt cx="8359920" cy="4398120"/>
          </a:xfrm>
        </p:grpSpPr>
        <p:sp>
          <p:nvSpPr>
            <p:cNvPr id="11" name="Google Shape;70;p13"/>
            <p:cNvSpPr/>
            <p:nvPr/>
          </p:nvSpPr>
          <p:spPr>
            <a:xfrm>
              <a:off x="396360" y="170280"/>
              <a:ext cx="8359920" cy="439812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2" name="Google Shape;71;p13"/>
            <p:cNvSpPr/>
            <p:nvPr/>
          </p:nvSpPr>
          <p:spPr>
            <a:xfrm>
              <a:off x="396360" y="170280"/>
              <a:ext cx="8359920" cy="25452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113840" y="1879560"/>
            <a:ext cx="306468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s-AR" sz="22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1113840" y="1269360"/>
            <a:ext cx="1298520" cy="6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AR" sz="3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xx%</a:t>
            </a:r>
            <a:endParaRPr b="0" lang="es-A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title"/>
          </p:nvPr>
        </p:nvSpPr>
        <p:spPr>
          <a:xfrm>
            <a:off x="1113840" y="2892960"/>
            <a:ext cx="306468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s-AR" sz="22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/>
          </p:nvPr>
        </p:nvSpPr>
        <p:spPr>
          <a:xfrm>
            <a:off x="1113840" y="2283840"/>
            <a:ext cx="1298520" cy="6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AR" sz="3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xx%</a:t>
            </a:r>
            <a:endParaRPr b="0" lang="es-A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title"/>
          </p:nvPr>
        </p:nvSpPr>
        <p:spPr>
          <a:xfrm>
            <a:off x="1114200" y="3908880"/>
            <a:ext cx="306468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s-AR" sz="22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title"/>
          </p:nvPr>
        </p:nvSpPr>
        <p:spPr>
          <a:xfrm>
            <a:off x="1113840" y="3297960"/>
            <a:ext cx="1298520" cy="60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AR" sz="3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xx%</a:t>
            </a:r>
            <a:endParaRPr b="0" lang="es-A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7"/>
          <p:cNvSpPr>
            <a:spLocks noGrp="1"/>
          </p:cNvSpPr>
          <p:nvPr>
            <p:ph type="title"/>
          </p:nvPr>
        </p:nvSpPr>
        <p:spPr>
          <a:xfrm>
            <a:off x="4965840" y="1270080"/>
            <a:ext cx="1298520" cy="60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AR" sz="3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xx%</a:t>
            </a:r>
            <a:endParaRPr b="0" lang="es-A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8"/>
          <p:cNvSpPr>
            <a:spLocks noGrp="1"/>
          </p:cNvSpPr>
          <p:nvPr>
            <p:ph type="title"/>
          </p:nvPr>
        </p:nvSpPr>
        <p:spPr>
          <a:xfrm>
            <a:off x="4965840" y="1879560"/>
            <a:ext cx="306468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s-AR" sz="22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9"/>
          <p:cNvSpPr>
            <a:spLocks noGrp="1"/>
          </p:cNvSpPr>
          <p:nvPr>
            <p:ph type="title"/>
          </p:nvPr>
        </p:nvSpPr>
        <p:spPr>
          <a:xfrm>
            <a:off x="720000" y="45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AR" sz="33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10"/>
          <p:cNvSpPr>
            <a:spLocks noGrp="1"/>
          </p:cNvSpPr>
          <p:nvPr>
            <p:ph type="title"/>
          </p:nvPr>
        </p:nvSpPr>
        <p:spPr>
          <a:xfrm>
            <a:off x="4965840" y="2892960"/>
            <a:ext cx="306468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s-AR" sz="22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11"/>
          <p:cNvSpPr>
            <a:spLocks noGrp="1"/>
          </p:cNvSpPr>
          <p:nvPr>
            <p:ph type="title"/>
          </p:nvPr>
        </p:nvSpPr>
        <p:spPr>
          <a:xfrm>
            <a:off x="4965840" y="2283840"/>
            <a:ext cx="1298520" cy="60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AR" sz="3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xx%</a:t>
            </a:r>
            <a:endParaRPr b="0" lang="es-A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12"/>
          <p:cNvSpPr>
            <a:spLocks noGrp="1"/>
          </p:cNvSpPr>
          <p:nvPr>
            <p:ph type="title"/>
          </p:nvPr>
        </p:nvSpPr>
        <p:spPr>
          <a:xfrm>
            <a:off x="4965840" y="3297960"/>
            <a:ext cx="1298520" cy="60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AR" sz="3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xx%</a:t>
            </a:r>
            <a:endParaRPr b="0" lang="es-AR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13"/>
          <p:cNvSpPr>
            <a:spLocks noGrp="1"/>
          </p:cNvSpPr>
          <p:nvPr>
            <p:ph type="title"/>
          </p:nvPr>
        </p:nvSpPr>
        <p:spPr>
          <a:xfrm>
            <a:off x="4965840" y="3908880"/>
            <a:ext cx="3064680" cy="403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s-AR" sz="22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Google Shape;85;p13"/>
          <p:cNvSpPr/>
          <p:nvPr/>
        </p:nvSpPr>
        <p:spPr>
          <a:xfrm>
            <a:off x="344160" y="4753800"/>
            <a:ext cx="84783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0" bIns="90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uFillTx/>
                <a:latin typeface="Source Code Pro"/>
                <a:ea typeface="Source Code Pro"/>
              </a:rPr>
              <a:t>1 0 1 1   0 1 1   0 1   1 0 1 1 0 0 1   1 0   1 1 0 1 1   0 1 1   0 1   1 1 0 1 1 0   1 1 0 1 1 1   1 1 0 1 </a:t>
            </a:r>
            <a:endParaRPr b="0" lang="es-A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" name="PlaceHolder 1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 texto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Segundo nivel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Tercer nivel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Cuarto nivel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</a:rPr>
              <a:t>Quinto nivel del esquema</a:t>
            </a:r>
            <a:endParaRPr b="0" lang="es-A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</a:rPr>
              <a:t>Sexto nivel del esquema</a:t>
            </a:r>
            <a:endParaRPr b="0" lang="es-A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</a:rPr>
              <a:t>Séptimo nivel del esquema</a:t>
            </a:r>
            <a:endParaRPr b="0" lang="es-A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86920" y="1906560"/>
            <a:ext cx="3943080" cy="11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s-AR" sz="48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4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5731920" y="1906560"/>
            <a:ext cx="2224800" cy="11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AR" sz="6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xx%</a:t>
            </a:r>
            <a:endParaRPr b="0" lang="es-AR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Google Shape;16;p3"/>
          <p:cNvSpPr/>
          <p:nvPr/>
        </p:nvSpPr>
        <p:spPr>
          <a:xfrm>
            <a:off x="344160" y="4753800"/>
            <a:ext cx="84783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0" bIns="90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uFillTx/>
                <a:latin typeface="Source Code Pro"/>
                <a:ea typeface="Source Code Pro"/>
              </a:rPr>
              <a:t>1 0 1 1   0 1 1   0 1   1 0 1 1 0 0 1   1 0   1 1 0 1 1   0 1 1   0 1   1 1 0 1 1 0   1 1 0 1 1 1   1 1 0 1 </a:t>
            </a:r>
            <a:endParaRPr b="0" lang="es-A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" name="Google Shape;17;p3"/>
          <p:cNvSpPr/>
          <p:nvPr/>
        </p:nvSpPr>
        <p:spPr>
          <a:xfrm>
            <a:off x="11520" y="0"/>
            <a:ext cx="3048120" cy="4147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Google Shape;18;p3"/>
          <p:cNvSpPr/>
          <p:nvPr/>
        </p:nvSpPr>
        <p:spPr>
          <a:xfrm>
            <a:off x="3059280" y="0"/>
            <a:ext cx="6084360" cy="4147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AR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 texto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Segundo nivel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Tercer nivel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Cuarto nivel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</a:rPr>
              <a:t>Quinto nivel del esquema</a:t>
            </a:r>
            <a:endParaRPr b="0" lang="es-A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</a:rPr>
              <a:t>Sexto nivel del esquema</a:t>
            </a:r>
            <a:endParaRPr b="0" lang="es-A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</a:rPr>
              <a:t>Séptimo nivel del esquema</a:t>
            </a:r>
            <a:endParaRPr b="0" lang="es-A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99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AR" sz="33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20000" y="1809720"/>
            <a:ext cx="7703640" cy="258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 texto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Segundo nivel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Tercer nivel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Cuarto nivel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Quinto nivel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Sexto nivel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Séptimo nivel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Google Shape;22;p4"/>
          <p:cNvSpPr/>
          <p:nvPr/>
        </p:nvSpPr>
        <p:spPr>
          <a:xfrm>
            <a:off x="344160" y="4753800"/>
            <a:ext cx="84783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0" bIns="90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uFillTx/>
                <a:latin typeface="Source Code Pro"/>
                <a:ea typeface="Source Code Pro"/>
              </a:rPr>
              <a:t>1 0 1 1   0 1 1   0 1   1 0 1 1 0 0 1   1 0   1 1 0 1 1   0 1 1   0 1   1 1 0 1 1 0   1 1 0 1 1 1   1 1 0 1 </a:t>
            </a:r>
            <a:endParaRPr b="0" lang="es-A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24;p5"/>
          <p:cNvGrpSpPr/>
          <p:nvPr/>
        </p:nvGrpSpPr>
        <p:grpSpPr>
          <a:xfrm>
            <a:off x="396360" y="170280"/>
            <a:ext cx="8359920" cy="4398120"/>
            <a:chOff x="396360" y="170280"/>
            <a:chExt cx="8359920" cy="4398120"/>
          </a:xfrm>
        </p:grpSpPr>
        <p:sp>
          <p:nvSpPr>
            <p:cNvPr id="40" name="Google Shape;25;p5"/>
            <p:cNvSpPr/>
            <p:nvPr/>
          </p:nvSpPr>
          <p:spPr>
            <a:xfrm>
              <a:off x="396360" y="170280"/>
              <a:ext cx="8359920" cy="439812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41" name="Google Shape;26;p5"/>
            <p:cNvSpPr/>
            <p:nvPr/>
          </p:nvSpPr>
          <p:spPr>
            <a:xfrm>
              <a:off x="396360" y="170280"/>
              <a:ext cx="8359920" cy="25452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0000" y="45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AR" sz="33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Google Shape;32;p5"/>
          <p:cNvSpPr/>
          <p:nvPr/>
        </p:nvSpPr>
        <p:spPr>
          <a:xfrm>
            <a:off x="344160" y="4753800"/>
            <a:ext cx="84783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0" bIns="90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uFillTx/>
                <a:latin typeface="Source Code Pro"/>
                <a:ea typeface="Source Code Pro"/>
              </a:rPr>
              <a:t>1 0 1 1   0 1 1   0 1   1 0 1 1 0 0 1   1 0   1 1 0 1 1   0 1 1   0 1   1 1 0 1 1 0   1 1 0 1 1 1   1 1 0 1 </a:t>
            </a:r>
            <a:endParaRPr b="0" lang="es-A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AR" sz="33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 texto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Segundo nivel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Tercer nivel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1400" strike="noStrike" u="none">
                <a:solidFill>
                  <a:srgbClr val="000000"/>
                </a:solidFill>
                <a:uFillTx/>
                <a:latin typeface="Arial"/>
              </a:rPr>
              <a:t>Cuarto nivel del esquema</a:t>
            </a:r>
            <a:endParaRPr b="0" lang="es-AR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</a:rPr>
              <a:t>Quinto nivel del esquema</a:t>
            </a:r>
            <a:endParaRPr b="0" lang="es-A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</a:rPr>
              <a:t>Sexto nivel del esquema</a:t>
            </a:r>
            <a:endParaRPr b="0" lang="es-AR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</a:rPr>
              <a:t>Séptimo nivel del esquema</a:t>
            </a:r>
            <a:endParaRPr b="0" lang="es-AR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2"/>
    <p:sldLayoutId id="2147483664" r:id="rId3"/>
    <p:sldLayoutId id="2147483665" r:id="rId4"/>
    <p:sldLayoutId id="2147483666" r:id="rId5"/>
    <p:sldLayoutId id="2147483667" r:id="rId6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36;p7"/>
          <p:cNvGrpSpPr/>
          <p:nvPr/>
        </p:nvGrpSpPr>
        <p:grpSpPr>
          <a:xfrm>
            <a:off x="396360" y="170280"/>
            <a:ext cx="8359920" cy="4398120"/>
            <a:chOff x="396360" y="170280"/>
            <a:chExt cx="8359920" cy="4398120"/>
          </a:xfrm>
        </p:grpSpPr>
        <p:sp>
          <p:nvSpPr>
            <p:cNvPr id="58" name="Google Shape;37;p7"/>
            <p:cNvSpPr/>
            <p:nvPr/>
          </p:nvSpPr>
          <p:spPr>
            <a:xfrm>
              <a:off x="396360" y="170280"/>
              <a:ext cx="8359920" cy="439812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59" name="Google Shape;38;p7"/>
            <p:cNvSpPr/>
            <p:nvPr/>
          </p:nvSpPr>
          <p:spPr>
            <a:xfrm>
              <a:off x="396360" y="170280"/>
              <a:ext cx="8359920" cy="25452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20000" y="475560"/>
            <a:ext cx="7703640" cy="55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AR" sz="32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20000" y="1244160"/>
            <a:ext cx="3692160" cy="295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 texto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Segundo nivel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Tercer nivel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Cuarto nivel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Quinto nivel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Sexto nivel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s-AR" sz="1200" strike="noStrike" u="none">
                <a:solidFill>
                  <a:srgbClr val="000000"/>
                </a:solidFill>
                <a:uFillTx/>
                <a:latin typeface="Arial"/>
              </a:rPr>
              <a:t>Séptimo nivel del esquema</a:t>
            </a:r>
            <a:endParaRPr b="0" lang="es-AR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Google Shape;41;p7"/>
          <p:cNvSpPr/>
          <p:nvPr/>
        </p:nvSpPr>
        <p:spPr>
          <a:xfrm>
            <a:off x="344160" y="4753800"/>
            <a:ext cx="84783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0" bIns="90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uFillTx/>
                <a:latin typeface="Source Code Pro"/>
                <a:ea typeface="Source Code Pro"/>
              </a:rPr>
              <a:t>1 0 1 1   0 1 1   0 1   1 0 1 1 0 0 1   1 0   1 1 0 1 1   0 1 1   0 1   1 1 0 1 1 0   1 1 0 1 1 1   1 1 0 1 </a:t>
            </a:r>
            <a:endParaRPr b="0" lang="es-A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43;p8"/>
          <p:cNvGrpSpPr/>
          <p:nvPr/>
        </p:nvGrpSpPr>
        <p:grpSpPr>
          <a:xfrm>
            <a:off x="396360" y="170280"/>
            <a:ext cx="8359920" cy="4398120"/>
            <a:chOff x="396360" y="170280"/>
            <a:chExt cx="8359920" cy="4398120"/>
          </a:xfrm>
        </p:grpSpPr>
        <p:sp>
          <p:nvSpPr>
            <p:cNvPr id="64" name="Google Shape;44;p8"/>
            <p:cNvSpPr/>
            <p:nvPr/>
          </p:nvSpPr>
          <p:spPr>
            <a:xfrm>
              <a:off x="396360" y="170280"/>
              <a:ext cx="8359920" cy="439812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65" name="Google Shape;45;p8"/>
            <p:cNvSpPr/>
            <p:nvPr/>
          </p:nvSpPr>
          <p:spPr>
            <a:xfrm>
              <a:off x="396360" y="170280"/>
              <a:ext cx="8359920" cy="25452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66" name="Google Shape;46;p8"/>
          <p:cNvSpPr/>
          <p:nvPr/>
        </p:nvSpPr>
        <p:spPr>
          <a:xfrm>
            <a:off x="344160" y="4753800"/>
            <a:ext cx="84783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0" bIns="90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uFillTx/>
                <a:latin typeface="Source Code Pro"/>
                <a:ea typeface="Source Code Pro"/>
              </a:rPr>
              <a:t>1 0 1 1   0 1 1   0 1   1 0 1 1 0 0 1   1 0   1 1 0 1 1   0 1 1   0 1   1 1 0 1 1 0   1 1 0 1 1 1   1 1 0 1 </a:t>
            </a:r>
            <a:endParaRPr b="0" lang="es-A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801880" y="1918080"/>
            <a:ext cx="5622120" cy="247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s-AR" sz="60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6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49;p9"/>
          <p:cNvGrpSpPr/>
          <p:nvPr/>
        </p:nvGrpSpPr>
        <p:grpSpPr>
          <a:xfrm>
            <a:off x="396360" y="170280"/>
            <a:ext cx="8359920" cy="4398120"/>
            <a:chOff x="396360" y="170280"/>
            <a:chExt cx="8359920" cy="4398120"/>
          </a:xfrm>
        </p:grpSpPr>
        <p:sp>
          <p:nvSpPr>
            <p:cNvPr id="69" name="Google Shape;50;p9"/>
            <p:cNvSpPr/>
            <p:nvPr/>
          </p:nvSpPr>
          <p:spPr>
            <a:xfrm>
              <a:off x="396360" y="170280"/>
              <a:ext cx="8359920" cy="439812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70" name="Google Shape;51;p9"/>
            <p:cNvSpPr/>
            <p:nvPr/>
          </p:nvSpPr>
          <p:spPr>
            <a:xfrm>
              <a:off x="396360" y="170280"/>
              <a:ext cx="8359920" cy="25452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71" name="Google Shape;52;p9"/>
          <p:cNvSpPr/>
          <p:nvPr/>
        </p:nvSpPr>
        <p:spPr>
          <a:xfrm>
            <a:off x="344160" y="4753800"/>
            <a:ext cx="84783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0" bIns="90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uFillTx/>
                <a:latin typeface="Source Code Pro"/>
                <a:ea typeface="Source Code Pro"/>
              </a:rPr>
              <a:t>1 0 1 1   0 1 1   0 1   1 0 1 1 0 0 1   1 0   1 1 0 1 1   0 1 1   0 1   1 1 0 1 1 0   1 1 0 1 1 1   1 1 0 1 </a:t>
            </a:r>
            <a:endParaRPr b="0" lang="es-A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 rot="600">
            <a:off x="2406600" y="1622880"/>
            <a:ext cx="6006240" cy="60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s-AR" sz="33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56;p10"/>
          <p:cNvGrpSpPr/>
          <p:nvPr/>
        </p:nvGrpSpPr>
        <p:grpSpPr>
          <a:xfrm>
            <a:off x="396360" y="170280"/>
            <a:ext cx="8359920" cy="4398120"/>
            <a:chOff x="396360" y="170280"/>
            <a:chExt cx="8359920" cy="4398120"/>
          </a:xfrm>
        </p:grpSpPr>
        <p:sp>
          <p:nvSpPr>
            <p:cNvPr id="74" name="Google Shape;57;p10"/>
            <p:cNvSpPr/>
            <p:nvPr/>
          </p:nvSpPr>
          <p:spPr>
            <a:xfrm>
              <a:off x="396360" y="170280"/>
              <a:ext cx="8359920" cy="439812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75" name="Google Shape;58;p10"/>
            <p:cNvSpPr/>
            <p:nvPr/>
          </p:nvSpPr>
          <p:spPr>
            <a:xfrm>
              <a:off x="396360" y="170280"/>
              <a:ext cx="8359920" cy="25452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76" name="Google Shape;59;p10"/>
          <p:cNvSpPr/>
          <p:nvPr/>
        </p:nvSpPr>
        <p:spPr>
          <a:xfrm>
            <a:off x="344160" y="4753800"/>
            <a:ext cx="8478360" cy="1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0000" bIns="90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uFillTx/>
                <a:latin typeface="Source Code Pro"/>
                <a:ea typeface="Source Code Pro"/>
              </a:rPr>
              <a:t>1 0 1 1   0 1 1   0 1   1 0 1 1 0 0 1   1 0   1 1 0 1 1   0 1 1   0 1   1 1 0 1 1 0   1 1 0 1 1 1   1 1 0 1 </a:t>
            </a:r>
            <a:endParaRPr b="0" lang="es-AR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2233800"/>
            <a:ext cx="7703640" cy="614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s-AR" sz="3300" strike="noStrike" u="none">
                <a:solidFill>
                  <a:srgbClr val="000000"/>
                </a:solidFill>
                <a:uFillTx/>
                <a:latin typeface="Arial"/>
              </a:rPr>
              <a:t>Pulse para editar el formato del texto de título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90;p14"/>
          <p:cNvGrpSpPr/>
          <p:nvPr/>
        </p:nvGrpSpPr>
        <p:grpSpPr>
          <a:xfrm>
            <a:off x="1283040" y="650520"/>
            <a:ext cx="6577920" cy="3438000"/>
            <a:chOff x="1283040" y="650520"/>
            <a:chExt cx="6577920" cy="3438000"/>
          </a:xfrm>
        </p:grpSpPr>
        <p:sp>
          <p:nvSpPr>
            <p:cNvPr id="85" name="Google Shape;91;p14"/>
            <p:cNvSpPr/>
            <p:nvPr/>
          </p:nvSpPr>
          <p:spPr>
            <a:xfrm>
              <a:off x="1283040" y="650520"/>
              <a:ext cx="6577920" cy="34380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86" name="Google Shape;92;p14"/>
            <p:cNvSpPr/>
            <p:nvPr/>
          </p:nvSpPr>
          <p:spPr>
            <a:xfrm>
              <a:off x="1283040" y="650520"/>
              <a:ext cx="65779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87" name="Google Shape;93;p14"/>
          <p:cNvGrpSpPr/>
          <p:nvPr/>
        </p:nvGrpSpPr>
        <p:grpSpPr>
          <a:xfrm>
            <a:off x="2848320" y="3365280"/>
            <a:ext cx="3447000" cy="961920"/>
            <a:chOff x="2848320" y="3365280"/>
            <a:chExt cx="3447000" cy="961920"/>
          </a:xfrm>
        </p:grpSpPr>
        <p:sp>
          <p:nvSpPr>
            <p:cNvPr id="88" name="Google Shape;94;p14"/>
            <p:cNvSpPr/>
            <p:nvPr/>
          </p:nvSpPr>
          <p:spPr>
            <a:xfrm>
              <a:off x="2848320" y="3365280"/>
              <a:ext cx="3447000" cy="96192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89" name="Google Shape;95;p14"/>
            <p:cNvSpPr/>
            <p:nvPr/>
          </p:nvSpPr>
          <p:spPr>
            <a:xfrm>
              <a:off x="2848320" y="3365280"/>
              <a:ext cx="344700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90" name="Google Shape;96;p14"/>
          <p:cNvSpPr/>
          <p:nvPr/>
        </p:nvSpPr>
        <p:spPr>
          <a:xfrm>
            <a:off x="1414800" y="1639800"/>
            <a:ext cx="702720" cy="6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2"/>
                </a:solidFill>
                <a:uFillTx/>
                <a:latin typeface="Quantico"/>
                <a:ea typeface="Quantico"/>
              </a:rPr>
              <a:t>&lt;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1" name="Google Shape;97;p14"/>
          <p:cNvSpPr/>
          <p:nvPr/>
        </p:nvSpPr>
        <p:spPr>
          <a:xfrm>
            <a:off x="7020720" y="2493360"/>
            <a:ext cx="702720" cy="60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/&gt;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062080" y="1662480"/>
            <a:ext cx="5019120" cy="120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39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Paradigmas de Programación</a:t>
            </a:r>
            <a:endParaRPr b="0" lang="es-AR" sz="3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3050280" y="3617640"/>
            <a:ext cx="3043440" cy="70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500" strike="noStrike" u="none">
                <a:solidFill>
                  <a:schemeClr val="dk1"/>
                </a:solidFill>
                <a:uFillTx/>
                <a:latin typeface="Source Code Pro"/>
                <a:ea typeface="Source Code Pro"/>
              </a:rPr>
              <a:t>Clase 5</a:t>
            </a:r>
            <a:endParaRPr b="0" lang="es-AR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94" name="Google Shape;100;p14"/>
          <p:cNvGrpSpPr/>
          <p:nvPr/>
        </p:nvGrpSpPr>
        <p:grpSpPr>
          <a:xfrm>
            <a:off x="488520" y="3098520"/>
            <a:ext cx="1864440" cy="718200"/>
            <a:chOff x="488520" y="3098520"/>
            <a:chExt cx="1864440" cy="718200"/>
          </a:xfrm>
        </p:grpSpPr>
        <p:grpSp>
          <p:nvGrpSpPr>
            <p:cNvPr id="95" name="Google Shape;101;p14"/>
            <p:cNvGrpSpPr/>
            <p:nvPr/>
          </p:nvGrpSpPr>
          <p:grpSpPr>
            <a:xfrm>
              <a:off x="488520" y="3098520"/>
              <a:ext cx="1864440" cy="718200"/>
              <a:chOff x="488520" y="3098520"/>
              <a:chExt cx="1864440" cy="718200"/>
            </a:xfrm>
          </p:grpSpPr>
          <p:sp>
            <p:nvSpPr>
              <p:cNvPr id="96" name="Google Shape;102;p14"/>
              <p:cNvSpPr/>
              <p:nvPr/>
            </p:nvSpPr>
            <p:spPr>
              <a:xfrm>
                <a:off x="488520" y="3353760"/>
                <a:ext cx="1864440" cy="46296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AR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  <p:sp>
            <p:nvSpPr>
              <p:cNvPr id="97" name="Google Shape;103;p14"/>
              <p:cNvSpPr/>
              <p:nvPr/>
            </p:nvSpPr>
            <p:spPr>
              <a:xfrm>
                <a:off x="488520" y="3098520"/>
                <a:ext cx="1864440" cy="254880"/>
              </a:xfrm>
              <a:prstGeom prst="rect">
                <a:avLst/>
              </a:prstGeom>
              <a:solidFill>
                <a:schemeClr val="lt1"/>
              </a:solidFill>
              <a:ln w="9525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AR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98" name="Google Shape;104;p14"/>
            <p:cNvGrpSpPr/>
            <p:nvPr/>
          </p:nvGrpSpPr>
          <p:grpSpPr>
            <a:xfrm>
              <a:off x="693000" y="3437640"/>
              <a:ext cx="1455480" cy="295200"/>
              <a:chOff x="693000" y="3437640"/>
              <a:chExt cx="1455480" cy="295200"/>
            </a:xfrm>
          </p:grpSpPr>
          <p:sp>
            <p:nvSpPr>
              <p:cNvPr id="99" name="Google Shape;105;p14"/>
              <p:cNvSpPr/>
              <p:nvPr/>
            </p:nvSpPr>
            <p:spPr>
              <a:xfrm>
                <a:off x="693000" y="3437640"/>
                <a:ext cx="295200" cy="295200"/>
              </a:xfrm>
              <a:custGeom>
                <a:avLst/>
                <a:gdLst>
                  <a:gd name="textAreaLeft" fmla="*/ 0 w 295200"/>
                  <a:gd name="textAreaRight" fmla="*/ 295560 w 295200"/>
                  <a:gd name="textAreaTop" fmla="*/ 0 h 295200"/>
                  <a:gd name="textAreaBottom" fmla="*/ 295560 h 295200"/>
                </a:gdLst>
                <a:ahLst/>
                <a:rect l="textAreaLeft" t="textAreaTop" r="textAreaRight" b="textAreaBottom"/>
                <a:pathLst>
                  <a:path w="3170" h="3170">
                    <a:moveTo>
                      <a:pt x="701" y="1"/>
                    </a:moveTo>
                    <a:cubicBezTo>
                      <a:pt x="301" y="1"/>
                      <a:pt x="1" y="334"/>
                      <a:pt x="1" y="701"/>
                    </a:cubicBezTo>
                    <a:lnTo>
                      <a:pt x="1" y="2436"/>
                    </a:lnTo>
                    <a:cubicBezTo>
                      <a:pt x="1" y="2869"/>
                      <a:pt x="334" y="3169"/>
                      <a:pt x="701" y="3169"/>
                    </a:cubicBezTo>
                    <a:lnTo>
                      <a:pt x="2469" y="3169"/>
                    </a:lnTo>
                    <a:cubicBezTo>
                      <a:pt x="2870" y="3169"/>
                      <a:pt x="3170" y="2836"/>
                      <a:pt x="3170" y="2436"/>
                    </a:cubicBezTo>
                    <a:lnTo>
                      <a:pt x="3170" y="701"/>
                    </a:lnTo>
                    <a:cubicBezTo>
                      <a:pt x="3170" y="267"/>
                      <a:pt x="2836" y="1"/>
                      <a:pt x="24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AR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00" name="Google Shape;106;p14"/>
              <p:cNvSpPr/>
              <p:nvPr/>
            </p:nvSpPr>
            <p:spPr>
              <a:xfrm>
                <a:off x="1085040" y="3530880"/>
                <a:ext cx="1063440" cy="21600"/>
              </a:xfrm>
              <a:custGeom>
                <a:avLst/>
                <a:gdLst>
                  <a:gd name="textAreaLeft" fmla="*/ 0 w 1063440"/>
                  <a:gd name="textAreaRight" fmla="*/ 1063800 w 1063440"/>
                  <a:gd name="textAreaTop" fmla="*/ 0 h 21600"/>
                  <a:gd name="textAreaBottom" fmla="*/ 21960 h 21600"/>
                </a:gdLst>
                <a:ahLst/>
                <a:rect l="textAreaLeft" t="textAreaTop" r="textAreaRight" b="textAreaBottom"/>
                <a:pathLst>
                  <a:path w="11410" h="234">
                    <a:moveTo>
                      <a:pt x="134" y="0"/>
                    </a:moveTo>
                    <a:cubicBezTo>
                      <a:pt x="68" y="0"/>
                      <a:pt x="1" y="34"/>
                      <a:pt x="1" y="100"/>
                    </a:cubicBezTo>
                    <a:cubicBezTo>
                      <a:pt x="1" y="200"/>
                      <a:pt x="68" y="234"/>
                      <a:pt x="134" y="234"/>
                    </a:cubicBezTo>
                    <a:lnTo>
                      <a:pt x="11276" y="234"/>
                    </a:lnTo>
                    <a:cubicBezTo>
                      <a:pt x="11342" y="234"/>
                      <a:pt x="11409" y="200"/>
                      <a:pt x="11409" y="100"/>
                    </a:cubicBezTo>
                    <a:cubicBezTo>
                      <a:pt x="11409" y="34"/>
                      <a:pt x="11309" y="0"/>
                      <a:pt x="112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0800" bIns="10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AR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01" name="Google Shape;107;p14"/>
              <p:cNvSpPr/>
              <p:nvPr/>
            </p:nvSpPr>
            <p:spPr>
              <a:xfrm>
                <a:off x="1085040" y="3611880"/>
                <a:ext cx="684000" cy="21600"/>
              </a:xfrm>
              <a:custGeom>
                <a:avLst/>
                <a:gdLst>
                  <a:gd name="textAreaLeft" fmla="*/ 0 w 684000"/>
                  <a:gd name="textAreaRight" fmla="*/ 684360 w 684000"/>
                  <a:gd name="textAreaTop" fmla="*/ 0 h 21600"/>
                  <a:gd name="textAreaBottom" fmla="*/ 21960 h 21600"/>
                </a:gdLst>
                <a:ahLst/>
                <a:rect l="textAreaLeft" t="textAreaTop" r="textAreaRight" b="textAreaBottom"/>
                <a:pathLst>
                  <a:path w="7340" h="235">
                    <a:moveTo>
                      <a:pt x="134" y="1"/>
                    </a:moveTo>
                    <a:cubicBezTo>
                      <a:pt x="68" y="1"/>
                      <a:pt x="1" y="34"/>
                      <a:pt x="1" y="134"/>
                    </a:cubicBezTo>
                    <a:cubicBezTo>
                      <a:pt x="1" y="201"/>
                      <a:pt x="68" y="234"/>
                      <a:pt x="134" y="234"/>
                    </a:cubicBezTo>
                    <a:lnTo>
                      <a:pt x="7239" y="234"/>
                    </a:lnTo>
                    <a:cubicBezTo>
                      <a:pt x="7306" y="234"/>
                      <a:pt x="7339" y="201"/>
                      <a:pt x="7339" y="134"/>
                    </a:cubicBezTo>
                    <a:cubicBezTo>
                      <a:pt x="7339" y="67"/>
                      <a:pt x="7273" y="1"/>
                      <a:pt x="7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0800" bIns="108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AR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</p:grpSp>
        <p:grpSp>
          <p:nvGrpSpPr>
            <p:cNvPr id="102" name="Google Shape;108;p14"/>
            <p:cNvGrpSpPr/>
            <p:nvPr/>
          </p:nvGrpSpPr>
          <p:grpSpPr>
            <a:xfrm>
              <a:off x="1892160" y="3182760"/>
              <a:ext cx="361440" cy="86400"/>
              <a:chOff x="1892160" y="3182760"/>
              <a:chExt cx="361440" cy="86400"/>
            </a:xfrm>
          </p:grpSpPr>
          <p:sp>
            <p:nvSpPr>
              <p:cNvPr id="103" name="Google Shape;109;p14"/>
              <p:cNvSpPr/>
              <p:nvPr/>
            </p:nvSpPr>
            <p:spPr>
              <a:xfrm>
                <a:off x="1892160" y="3182760"/>
                <a:ext cx="87840" cy="86400"/>
              </a:xfrm>
              <a:custGeom>
                <a:avLst/>
                <a:gdLst>
                  <a:gd name="textAreaLeft" fmla="*/ 0 w 87840"/>
                  <a:gd name="textAreaRight" fmla="*/ 88200 w 87840"/>
                  <a:gd name="textAreaTop" fmla="*/ 0 h 86400"/>
                  <a:gd name="textAreaBottom" fmla="*/ 86760 h 86400"/>
                </a:gdLst>
                <a:ahLst/>
                <a:rect l="textAreaLeft" t="textAreaTop" r="textAreaRight" b="textAreaBottom"/>
                <a:pathLst>
                  <a:path w="2269" h="2236">
                    <a:moveTo>
                      <a:pt x="1134" y="1"/>
                    </a:moveTo>
                    <a:cubicBezTo>
                      <a:pt x="500" y="1"/>
                      <a:pt x="0" y="501"/>
                      <a:pt x="0" y="1101"/>
                    </a:cubicBezTo>
                    <a:cubicBezTo>
                      <a:pt x="0" y="1735"/>
                      <a:pt x="500" y="2236"/>
                      <a:pt x="1134" y="2236"/>
                    </a:cubicBezTo>
                    <a:cubicBezTo>
                      <a:pt x="1768" y="2236"/>
                      <a:pt x="2268" y="1735"/>
                      <a:pt x="2268" y="1101"/>
                    </a:cubicBezTo>
                    <a:cubicBezTo>
                      <a:pt x="2268" y="501"/>
                      <a:pt x="1768" y="1"/>
                      <a:pt x="11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AR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04" name="Google Shape;110;p14"/>
              <p:cNvSpPr/>
              <p:nvPr/>
            </p:nvSpPr>
            <p:spPr>
              <a:xfrm>
                <a:off x="2029680" y="3182760"/>
                <a:ext cx="87840" cy="86400"/>
              </a:xfrm>
              <a:custGeom>
                <a:avLst/>
                <a:gdLst>
                  <a:gd name="textAreaLeft" fmla="*/ 0 w 87840"/>
                  <a:gd name="textAreaRight" fmla="*/ 88200 w 87840"/>
                  <a:gd name="textAreaTop" fmla="*/ 0 h 86400"/>
                  <a:gd name="textAreaBottom" fmla="*/ 86760 h 86400"/>
                </a:gdLst>
                <a:ahLst/>
                <a:rect l="textAreaLeft" t="textAreaTop" r="textAreaRight" b="textAreaBottom"/>
                <a:pathLst>
                  <a:path w="2270" h="2236">
                    <a:moveTo>
                      <a:pt x="1135" y="1"/>
                    </a:moveTo>
                    <a:cubicBezTo>
                      <a:pt x="501" y="1"/>
                      <a:pt x="1" y="501"/>
                      <a:pt x="1" y="1101"/>
                    </a:cubicBezTo>
                    <a:cubicBezTo>
                      <a:pt x="1" y="1735"/>
                      <a:pt x="501" y="2236"/>
                      <a:pt x="1135" y="2236"/>
                    </a:cubicBezTo>
                    <a:cubicBezTo>
                      <a:pt x="1769" y="2236"/>
                      <a:pt x="2269" y="1735"/>
                      <a:pt x="2269" y="1101"/>
                    </a:cubicBezTo>
                    <a:cubicBezTo>
                      <a:pt x="2269" y="501"/>
                      <a:pt x="1736" y="1"/>
                      <a:pt x="11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AR" sz="1400" strike="noStrike" u="none">
                  <a:solidFill>
                    <a:srgbClr val="000000"/>
                  </a:solidFill>
                  <a:uFillTx/>
                  <a:latin typeface="Arial"/>
                </a:endParaRPr>
              </a:p>
            </p:txBody>
          </p:sp>
          <p:sp>
            <p:nvSpPr>
              <p:cNvPr id="105" name="Google Shape;111;p14"/>
              <p:cNvSpPr/>
              <p:nvPr/>
            </p:nvSpPr>
            <p:spPr>
              <a:xfrm>
                <a:off x="2165760" y="3182760"/>
                <a:ext cx="87840" cy="86400"/>
              </a:xfrm>
              <a:custGeom>
                <a:avLst/>
                <a:gdLst>
                  <a:gd name="textAreaLeft" fmla="*/ 0 w 87840"/>
                  <a:gd name="textAreaRight" fmla="*/ 88200 w 87840"/>
                  <a:gd name="textAreaTop" fmla="*/ 0 h 86400"/>
                  <a:gd name="textAreaBottom" fmla="*/ 86760 h 86400"/>
                </a:gdLst>
                <a:ahLst/>
                <a:rect l="textAreaLeft" t="textAreaTop" r="textAreaRight" b="textAreaBottom"/>
                <a:pathLst>
                  <a:path w="2269" h="2236">
                    <a:moveTo>
                      <a:pt x="1135" y="1"/>
                    </a:moveTo>
                    <a:cubicBezTo>
                      <a:pt x="501" y="1"/>
                      <a:pt x="0" y="501"/>
                      <a:pt x="0" y="1101"/>
                    </a:cubicBezTo>
                    <a:cubicBezTo>
                      <a:pt x="0" y="1735"/>
                      <a:pt x="501" y="2236"/>
                      <a:pt x="1135" y="2236"/>
                    </a:cubicBezTo>
                    <a:cubicBezTo>
                      <a:pt x="1768" y="2236"/>
                      <a:pt x="2269" y="1735"/>
                      <a:pt x="2269" y="1101"/>
                    </a:cubicBezTo>
                    <a:cubicBezTo>
                      <a:pt x="2269" y="501"/>
                      <a:pt x="1768" y="1"/>
                      <a:pt x="113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3200" bIns="432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s-AR" sz="1400" strike="noStrike" u="none">
                  <a:solidFill>
                    <a:srgbClr val="ffffff"/>
                  </a:solidFill>
                  <a:uFillTx/>
                  <a:latin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63720" y="1322280"/>
            <a:ext cx="7294680" cy="303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-355680" algn="just">
              <a:lnSpc>
                <a:spcPct val="115000"/>
              </a:lnSpc>
              <a:buClr>
                <a:srgbClr val="ffdb5d"/>
              </a:buClr>
              <a:buFont typeface="Quantico"/>
              <a:buChar char="●"/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Repaso iteradores.</a:t>
            </a:r>
            <a:endParaRPr b="0" lang="es-AR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55680" algn="just">
              <a:lnSpc>
                <a:spcPct val="115000"/>
              </a:lnSpc>
              <a:buClr>
                <a:srgbClr val="ffdb5d"/>
              </a:buClr>
              <a:buFont typeface="Quantico"/>
              <a:buChar char="●"/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Ejemplificación con iteradores y diccionario.</a:t>
            </a:r>
            <a:endParaRPr b="0" lang="es-AR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55680" algn="just">
              <a:lnSpc>
                <a:spcPct val="115000"/>
              </a:lnSpc>
              <a:buClr>
                <a:srgbClr val="ffdb5d"/>
              </a:buClr>
              <a:buFont typeface="Quantico"/>
              <a:buChar char="●"/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Herencia.</a:t>
            </a:r>
            <a:endParaRPr b="0" lang="es-AR" sz="2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355680" algn="just">
              <a:lnSpc>
                <a:spcPct val="115000"/>
              </a:lnSpc>
              <a:buClr>
                <a:srgbClr val="ffdb5d"/>
              </a:buClr>
              <a:buFont typeface="Quantico"/>
              <a:buChar char="●"/>
            </a:pPr>
            <a:r>
              <a:rPr b="0" lang="en" sz="22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Ejercicios para resolver.</a:t>
            </a:r>
            <a:endParaRPr b="0" lang="es-AR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title"/>
          </p:nvPr>
        </p:nvSpPr>
        <p:spPr>
          <a:xfrm>
            <a:off x="720000" y="4590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&lt;/ 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Clase 5 - POO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22;p16"/>
          <p:cNvGrpSpPr/>
          <p:nvPr/>
        </p:nvGrpSpPr>
        <p:grpSpPr>
          <a:xfrm>
            <a:off x="772560" y="726480"/>
            <a:ext cx="6577920" cy="3438000"/>
            <a:chOff x="772560" y="726480"/>
            <a:chExt cx="6577920" cy="3438000"/>
          </a:xfrm>
        </p:grpSpPr>
        <p:sp>
          <p:nvSpPr>
            <p:cNvPr id="109" name="Google Shape;123;p16"/>
            <p:cNvSpPr/>
            <p:nvPr/>
          </p:nvSpPr>
          <p:spPr>
            <a:xfrm>
              <a:off x="772560" y="726480"/>
              <a:ext cx="6577920" cy="34380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10" name="Google Shape;124;p16"/>
            <p:cNvSpPr/>
            <p:nvPr/>
          </p:nvSpPr>
          <p:spPr>
            <a:xfrm>
              <a:off x="772560" y="726480"/>
              <a:ext cx="65779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11" name="Google Shape;125;p16"/>
          <p:cNvGrpSpPr/>
          <p:nvPr/>
        </p:nvGrpSpPr>
        <p:grpSpPr>
          <a:xfrm>
            <a:off x="3993480" y="3441600"/>
            <a:ext cx="2119320" cy="1127160"/>
            <a:chOff x="3993480" y="3441600"/>
            <a:chExt cx="2119320" cy="1127160"/>
          </a:xfrm>
        </p:grpSpPr>
        <p:sp>
          <p:nvSpPr>
            <p:cNvPr id="112" name="Google Shape;126;p16"/>
            <p:cNvSpPr/>
            <p:nvPr/>
          </p:nvSpPr>
          <p:spPr>
            <a:xfrm>
              <a:off x="3993480" y="3441600"/>
              <a:ext cx="2119320" cy="112716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13" name="Google Shape;127;p16"/>
            <p:cNvSpPr/>
            <p:nvPr/>
          </p:nvSpPr>
          <p:spPr>
            <a:xfrm>
              <a:off x="3993480" y="3441600"/>
              <a:ext cx="21193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14" name="Google Shape;128;p16"/>
          <p:cNvGrpSpPr/>
          <p:nvPr/>
        </p:nvGrpSpPr>
        <p:grpSpPr>
          <a:xfrm>
            <a:off x="5422320" y="1302480"/>
            <a:ext cx="2560320" cy="1952640"/>
            <a:chOff x="5422320" y="1302480"/>
            <a:chExt cx="2560320" cy="1952640"/>
          </a:xfrm>
        </p:grpSpPr>
        <p:sp>
          <p:nvSpPr>
            <p:cNvPr id="115" name="Google Shape;129;p16"/>
            <p:cNvSpPr/>
            <p:nvPr/>
          </p:nvSpPr>
          <p:spPr>
            <a:xfrm>
              <a:off x="5422320" y="1302480"/>
              <a:ext cx="2560320" cy="195264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16" name="Google Shape;130;p16"/>
            <p:cNvSpPr/>
            <p:nvPr/>
          </p:nvSpPr>
          <p:spPr>
            <a:xfrm>
              <a:off x="5422320" y="1302480"/>
              <a:ext cx="25603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186920" y="1906560"/>
            <a:ext cx="4088520" cy="11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6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Repaso</a:t>
            </a:r>
            <a:endParaRPr b="0" lang="es-AR" sz="4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Google Shape;132;p16"/>
          <p:cNvSpPr/>
          <p:nvPr/>
        </p:nvSpPr>
        <p:spPr>
          <a:xfrm>
            <a:off x="842040" y="1094400"/>
            <a:ext cx="10771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&lt;/&gt;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9" name="Google Shape;133;p16"/>
          <p:cNvSpPr/>
          <p:nvPr/>
        </p:nvSpPr>
        <p:spPr>
          <a:xfrm>
            <a:off x="4444920" y="3760920"/>
            <a:ext cx="1216440" cy="7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}</a:t>
            </a:r>
            <a:r>
              <a:rPr b="0" lang="en" sz="3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/&gt; </a:t>
            </a:r>
            <a:r>
              <a:rPr b="0" lang="en" sz="3600" strike="noStrike" u="none">
                <a:solidFill>
                  <a:schemeClr val="accent1"/>
                </a:solidFill>
                <a:uFillTx/>
                <a:latin typeface="Arial"/>
                <a:ea typeface="Arial"/>
              </a:rPr>
              <a:t>[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120" name="Google Shape;134;p16"/>
          <p:cNvGrpSpPr/>
          <p:nvPr/>
        </p:nvGrpSpPr>
        <p:grpSpPr>
          <a:xfrm>
            <a:off x="6270840" y="1709280"/>
            <a:ext cx="963720" cy="1320120"/>
            <a:chOff x="6270840" y="1709280"/>
            <a:chExt cx="963720" cy="1320120"/>
          </a:xfrm>
        </p:grpSpPr>
        <p:sp>
          <p:nvSpPr>
            <p:cNvPr id="121" name="Google Shape;135;p16"/>
            <p:cNvSpPr/>
            <p:nvPr/>
          </p:nvSpPr>
          <p:spPr>
            <a:xfrm>
              <a:off x="6504840" y="1709280"/>
              <a:ext cx="495360" cy="603720"/>
            </a:xfrm>
            <a:custGeom>
              <a:avLst/>
              <a:gdLst>
                <a:gd name="textAreaLeft" fmla="*/ 0 w 495360"/>
                <a:gd name="textAreaRight" fmla="*/ 495720 w 495360"/>
                <a:gd name="textAreaTop" fmla="*/ 0 h 603720"/>
                <a:gd name="textAreaBottom" fmla="*/ 604080 h 603720"/>
              </a:gdLst>
              <a:ahLst/>
              <a:rect l="textAreaLeft" t="textAreaTop" r="textAreaRight" b="textAreaBottom"/>
              <a:pathLst>
                <a:path w="4132" h="5037">
                  <a:moveTo>
                    <a:pt x="2060" y="0"/>
                  </a:moveTo>
                  <a:cubicBezTo>
                    <a:pt x="953" y="0"/>
                    <a:pt x="36" y="869"/>
                    <a:pt x="0" y="1977"/>
                  </a:cubicBezTo>
                  <a:cubicBezTo>
                    <a:pt x="0" y="2072"/>
                    <a:pt x="60" y="2143"/>
                    <a:pt x="143" y="2143"/>
                  </a:cubicBezTo>
                  <a:cubicBezTo>
                    <a:pt x="238" y="2143"/>
                    <a:pt x="310" y="2084"/>
                    <a:pt x="310" y="2001"/>
                  </a:cubicBezTo>
                  <a:cubicBezTo>
                    <a:pt x="357" y="1060"/>
                    <a:pt x="1131" y="322"/>
                    <a:pt x="2060" y="322"/>
                  </a:cubicBezTo>
                  <a:cubicBezTo>
                    <a:pt x="3036" y="322"/>
                    <a:pt x="3822" y="1120"/>
                    <a:pt x="3822" y="2084"/>
                  </a:cubicBezTo>
                  <a:cubicBezTo>
                    <a:pt x="3822" y="2846"/>
                    <a:pt x="3334" y="3513"/>
                    <a:pt x="2596" y="3751"/>
                  </a:cubicBezTo>
                  <a:cubicBezTo>
                    <a:pt x="2572" y="3763"/>
                    <a:pt x="2524" y="3787"/>
                    <a:pt x="2512" y="3822"/>
                  </a:cubicBezTo>
                  <a:lnTo>
                    <a:pt x="2060" y="4572"/>
                  </a:lnTo>
                  <a:lnTo>
                    <a:pt x="1619" y="3822"/>
                  </a:lnTo>
                  <a:cubicBezTo>
                    <a:pt x="1608" y="3798"/>
                    <a:pt x="1572" y="3763"/>
                    <a:pt x="1524" y="3751"/>
                  </a:cubicBezTo>
                  <a:cubicBezTo>
                    <a:pt x="977" y="3572"/>
                    <a:pt x="548" y="3144"/>
                    <a:pt x="381" y="2572"/>
                  </a:cubicBezTo>
                  <a:cubicBezTo>
                    <a:pt x="362" y="2503"/>
                    <a:pt x="293" y="2459"/>
                    <a:pt x="230" y="2459"/>
                  </a:cubicBezTo>
                  <a:cubicBezTo>
                    <a:pt x="216" y="2459"/>
                    <a:pt x="203" y="2461"/>
                    <a:pt x="191" y="2465"/>
                  </a:cubicBezTo>
                  <a:cubicBezTo>
                    <a:pt x="95" y="2501"/>
                    <a:pt x="60" y="2584"/>
                    <a:pt x="84" y="2667"/>
                  </a:cubicBezTo>
                  <a:cubicBezTo>
                    <a:pt x="274" y="3298"/>
                    <a:pt x="750" y="3810"/>
                    <a:pt x="1381" y="4037"/>
                  </a:cubicBezTo>
                  <a:lnTo>
                    <a:pt x="1929" y="4953"/>
                  </a:lnTo>
                  <a:cubicBezTo>
                    <a:pt x="1965" y="5001"/>
                    <a:pt x="2000" y="5037"/>
                    <a:pt x="2060" y="5037"/>
                  </a:cubicBezTo>
                  <a:cubicBezTo>
                    <a:pt x="2120" y="5037"/>
                    <a:pt x="2167" y="5001"/>
                    <a:pt x="2191" y="4953"/>
                  </a:cubicBezTo>
                  <a:lnTo>
                    <a:pt x="2751" y="4037"/>
                  </a:lnTo>
                  <a:cubicBezTo>
                    <a:pt x="3584" y="3739"/>
                    <a:pt x="4132" y="2965"/>
                    <a:pt x="4132" y="2084"/>
                  </a:cubicBezTo>
                  <a:cubicBezTo>
                    <a:pt x="4132" y="941"/>
                    <a:pt x="3215" y="0"/>
                    <a:pt x="2060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22" name="Google Shape;136;p16"/>
            <p:cNvSpPr/>
            <p:nvPr/>
          </p:nvSpPr>
          <p:spPr>
            <a:xfrm>
              <a:off x="6613560" y="1815840"/>
              <a:ext cx="286920" cy="272880"/>
            </a:xfrm>
            <a:custGeom>
              <a:avLst/>
              <a:gdLst>
                <a:gd name="textAreaLeft" fmla="*/ 0 w 286920"/>
                <a:gd name="textAreaRight" fmla="*/ 287280 w 286920"/>
                <a:gd name="textAreaTop" fmla="*/ 0 h 272880"/>
                <a:gd name="textAreaBottom" fmla="*/ 273240 h 272880"/>
              </a:gdLst>
              <a:ahLst/>
              <a:rect l="textAreaLeft" t="textAreaTop" r="textAreaRight" b="textAreaBottom"/>
              <a:pathLst>
                <a:path w="2394" h="2278">
                  <a:moveTo>
                    <a:pt x="1441" y="313"/>
                  </a:moveTo>
                  <a:cubicBezTo>
                    <a:pt x="1572" y="313"/>
                    <a:pt x="1715" y="360"/>
                    <a:pt x="1810" y="468"/>
                  </a:cubicBezTo>
                  <a:cubicBezTo>
                    <a:pt x="2036" y="670"/>
                    <a:pt x="2036" y="1015"/>
                    <a:pt x="1834" y="1218"/>
                  </a:cubicBezTo>
                  <a:cubicBezTo>
                    <a:pt x="1726" y="1325"/>
                    <a:pt x="1587" y="1378"/>
                    <a:pt x="1448" y="1378"/>
                  </a:cubicBezTo>
                  <a:cubicBezTo>
                    <a:pt x="1310" y="1378"/>
                    <a:pt x="1173" y="1325"/>
                    <a:pt x="1072" y="1218"/>
                  </a:cubicBezTo>
                  <a:cubicBezTo>
                    <a:pt x="857" y="1015"/>
                    <a:pt x="857" y="670"/>
                    <a:pt x="1072" y="468"/>
                  </a:cubicBezTo>
                  <a:cubicBezTo>
                    <a:pt x="1167" y="360"/>
                    <a:pt x="1310" y="313"/>
                    <a:pt x="1441" y="313"/>
                  </a:cubicBezTo>
                  <a:close/>
                  <a:moveTo>
                    <a:pt x="1451" y="0"/>
                  </a:moveTo>
                  <a:cubicBezTo>
                    <a:pt x="1232" y="0"/>
                    <a:pt x="1012" y="81"/>
                    <a:pt x="845" y="241"/>
                  </a:cubicBezTo>
                  <a:cubicBezTo>
                    <a:pt x="548" y="539"/>
                    <a:pt x="524" y="992"/>
                    <a:pt x="738" y="1325"/>
                  </a:cubicBezTo>
                  <a:lnTo>
                    <a:pt x="60" y="2015"/>
                  </a:lnTo>
                  <a:cubicBezTo>
                    <a:pt x="0" y="2075"/>
                    <a:pt x="0" y="2182"/>
                    <a:pt x="60" y="2242"/>
                  </a:cubicBezTo>
                  <a:cubicBezTo>
                    <a:pt x="83" y="2265"/>
                    <a:pt x="131" y="2277"/>
                    <a:pt x="179" y="2277"/>
                  </a:cubicBezTo>
                  <a:cubicBezTo>
                    <a:pt x="226" y="2277"/>
                    <a:pt x="262" y="2265"/>
                    <a:pt x="298" y="2242"/>
                  </a:cubicBezTo>
                  <a:lnTo>
                    <a:pt x="976" y="1551"/>
                  </a:lnTo>
                  <a:cubicBezTo>
                    <a:pt x="1131" y="1658"/>
                    <a:pt x="1298" y="1706"/>
                    <a:pt x="1453" y="1706"/>
                  </a:cubicBezTo>
                  <a:cubicBezTo>
                    <a:pt x="1679" y="1706"/>
                    <a:pt x="1881" y="1611"/>
                    <a:pt x="2072" y="1444"/>
                  </a:cubicBezTo>
                  <a:cubicBezTo>
                    <a:pt x="2393" y="1122"/>
                    <a:pt x="2393" y="575"/>
                    <a:pt x="2048" y="241"/>
                  </a:cubicBezTo>
                  <a:cubicBezTo>
                    <a:pt x="1887" y="81"/>
                    <a:pt x="1670" y="0"/>
                    <a:pt x="145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23" name="Google Shape;137;p16"/>
            <p:cNvSpPr/>
            <p:nvPr/>
          </p:nvSpPr>
          <p:spPr>
            <a:xfrm>
              <a:off x="6451920" y="2376000"/>
              <a:ext cx="218160" cy="91080"/>
            </a:xfrm>
            <a:custGeom>
              <a:avLst/>
              <a:gdLst>
                <a:gd name="textAreaLeft" fmla="*/ 0 w 218160"/>
                <a:gd name="textAreaRight" fmla="*/ 218520 w 218160"/>
                <a:gd name="textAreaTop" fmla="*/ 0 h 91080"/>
                <a:gd name="textAreaBottom" fmla="*/ 91440 h 91080"/>
              </a:gdLst>
              <a:ahLst/>
              <a:rect l="textAreaLeft" t="textAreaTop" r="textAreaRight" b="textAreaBottom"/>
              <a:pathLst>
                <a:path w="1823" h="763">
                  <a:moveTo>
                    <a:pt x="181" y="0"/>
                  </a:moveTo>
                  <a:cubicBezTo>
                    <a:pt x="116" y="0"/>
                    <a:pt x="55" y="43"/>
                    <a:pt x="36" y="108"/>
                  </a:cubicBezTo>
                  <a:cubicBezTo>
                    <a:pt x="1" y="203"/>
                    <a:pt x="48" y="286"/>
                    <a:pt x="144" y="322"/>
                  </a:cubicBezTo>
                  <a:lnTo>
                    <a:pt x="1584" y="763"/>
                  </a:lnTo>
                  <a:lnTo>
                    <a:pt x="1632" y="763"/>
                  </a:lnTo>
                  <a:cubicBezTo>
                    <a:pt x="1703" y="763"/>
                    <a:pt x="1763" y="727"/>
                    <a:pt x="1775" y="643"/>
                  </a:cubicBezTo>
                  <a:cubicBezTo>
                    <a:pt x="1822" y="572"/>
                    <a:pt x="1775" y="465"/>
                    <a:pt x="1691" y="453"/>
                  </a:cubicBezTo>
                  <a:lnTo>
                    <a:pt x="239" y="12"/>
                  </a:lnTo>
                  <a:cubicBezTo>
                    <a:pt x="220" y="4"/>
                    <a:pt x="200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24" name="Google Shape;138;p16"/>
            <p:cNvSpPr/>
            <p:nvPr/>
          </p:nvSpPr>
          <p:spPr>
            <a:xfrm>
              <a:off x="6451920" y="2443320"/>
              <a:ext cx="218160" cy="92520"/>
            </a:xfrm>
            <a:custGeom>
              <a:avLst/>
              <a:gdLst>
                <a:gd name="textAreaLeft" fmla="*/ 0 w 218160"/>
                <a:gd name="textAreaRight" fmla="*/ 218520 w 218160"/>
                <a:gd name="textAreaTop" fmla="*/ 0 h 92520"/>
                <a:gd name="textAreaBottom" fmla="*/ 92880 h 92520"/>
              </a:gdLst>
              <a:ahLst/>
              <a:rect l="textAreaLeft" t="textAreaTop" r="textAreaRight" b="textAreaBottom"/>
              <a:pathLst>
                <a:path w="1823" h="775">
                  <a:moveTo>
                    <a:pt x="182" y="0"/>
                  </a:moveTo>
                  <a:cubicBezTo>
                    <a:pt x="116" y="0"/>
                    <a:pt x="55" y="45"/>
                    <a:pt x="36" y="119"/>
                  </a:cubicBezTo>
                  <a:cubicBezTo>
                    <a:pt x="1" y="203"/>
                    <a:pt x="48" y="298"/>
                    <a:pt x="144" y="322"/>
                  </a:cubicBezTo>
                  <a:lnTo>
                    <a:pt x="1584" y="774"/>
                  </a:lnTo>
                  <a:lnTo>
                    <a:pt x="1632" y="774"/>
                  </a:lnTo>
                  <a:cubicBezTo>
                    <a:pt x="1703" y="774"/>
                    <a:pt x="1763" y="726"/>
                    <a:pt x="1775" y="655"/>
                  </a:cubicBezTo>
                  <a:cubicBezTo>
                    <a:pt x="1822" y="584"/>
                    <a:pt x="1775" y="488"/>
                    <a:pt x="1691" y="464"/>
                  </a:cubicBezTo>
                  <a:lnTo>
                    <a:pt x="239" y="12"/>
                  </a:lnTo>
                  <a:cubicBezTo>
                    <a:pt x="220" y="4"/>
                    <a:pt x="201" y="0"/>
                    <a:pt x="18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25" name="Google Shape;139;p16"/>
            <p:cNvSpPr/>
            <p:nvPr/>
          </p:nvSpPr>
          <p:spPr>
            <a:xfrm>
              <a:off x="6451920" y="2511720"/>
              <a:ext cx="218160" cy="91080"/>
            </a:xfrm>
            <a:custGeom>
              <a:avLst/>
              <a:gdLst>
                <a:gd name="textAreaLeft" fmla="*/ 0 w 218160"/>
                <a:gd name="textAreaRight" fmla="*/ 218520 w 218160"/>
                <a:gd name="textAreaTop" fmla="*/ 0 h 91080"/>
                <a:gd name="textAreaBottom" fmla="*/ 91440 h 91080"/>
              </a:gdLst>
              <a:ahLst/>
              <a:rect l="textAreaLeft" t="textAreaTop" r="textAreaRight" b="textAreaBottom"/>
              <a:pathLst>
                <a:path w="1823" h="763">
                  <a:moveTo>
                    <a:pt x="181" y="1"/>
                  </a:moveTo>
                  <a:cubicBezTo>
                    <a:pt x="116" y="1"/>
                    <a:pt x="55" y="44"/>
                    <a:pt x="36" y="108"/>
                  </a:cubicBezTo>
                  <a:cubicBezTo>
                    <a:pt x="1" y="203"/>
                    <a:pt x="48" y="286"/>
                    <a:pt x="144" y="322"/>
                  </a:cubicBezTo>
                  <a:lnTo>
                    <a:pt x="1584" y="763"/>
                  </a:lnTo>
                  <a:lnTo>
                    <a:pt x="1632" y="763"/>
                  </a:lnTo>
                  <a:cubicBezTo>
                    <a:pt x="1703" y="763"/>
                    <a:pt x="1763" y="727"/>
                    <a:pt x="1775" y="644"/>
                  </a:cubicBezTo>
                  <a:cubicBezTo>
                    <a:pt x="1822" y="572"/>
                    <a:pt x="1775" y="489"/>
                    <a:pt x="1691" y="453"/>
                  </a:cubicBezTo>
                  <a:lnTo>
                    <a:pt x="239" y="13"/>
                  </a:lnTo>
                  <a:cubicBezTo>
                    <a:pt x="220" y="4"/>
                    <a:pt x="200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26" name="Google Shape;140;p16"/>
            <p:cNvSpPr/>
            <p:nvPr/>
          </p:nvSpPr>
          <p:spPr>
            <a:xfrm>
              <a:off x="7224480" y="2259720"/>
              <a:ext cx="2520" cy="1800"/>
            </a:xfrm>
            <a:custGeom>
              <a:avLst/>
              <a:gdLst>
                <a:gd name="textAreaLeft" fmla="*/ 0 w 2520"/>
                <a:gd name="textAreaRight" fmla="*/ 2880 w 2520"/>
                <a:gd name="textAreaTop" fmla="*/ 0 h 1800"/>
                <a:gd name="textAreaBottom" fmla="*/ 2160 h 1800"/>
              </a:gdLst>
              <a:ahLst/>
              <a:rect l="textAreaLeft" t="textAreaTop" r="textAreaRight" b="textAreaBottom"/>
              <a:pathLst>
                <a:path w="24" h="18">
                  <a:moveTo>
                    <a:pt x="3" y="0"/>
                  </a:moveTo>
                  <a:cubicBezTo>
                    <a:pt x="0" y="0"/>
                    <a:pt x="21" y="18"/>
                    <a:pt x="23" y="18"/>
                  </a:cubicBezTo>
                  <a:cubicBezTo>
                    <a:pt x="24" y="18"/>
                    <a:pt x="22" y="15"/>
                    <a:pt x="13" y="6"/>
                  </a:cubicBezTo>
                  <a:cubicBezTo>
                    <a:pt x="7" y="2"/>
                    <a:pt x="4" y="0"/>
                    <a:pt x="3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080" bIns="1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27" name="Google Shape;141;p16"/>
            <p:cNvSpPr/>
            <p:nvPr/>
          </p:nvSpPr>
          <p:spPr>
            <a:xfrm>
              <a:off x="6270840" y="2212200"/>
              <a:ext cx="963720" cy="817200"/>
            </a:xfrm>
            <a:custGeom>
              <a:avLst/>
              <a:gdLst>
                <a:gd name="textAreaLeft" fmla="*/ 0 w 963720"/>
                <a:gd name="textAreaRight" fmla="*/ 964080 w 963720"/>
                <a:gd name="textAreaTop" fmla="*/ 0 h 817200"/>
                <a:gd name="textAreaBottom" fmla="*/ 817560 h 817200"/>
              </a:gdLst>
              <a:ahLst/>
              <a:rect l="textAreaLeft" t="textAreaTop" r="textAreaRight" b="textAreaBottom"/>
              <a:pathLst>
                <a:path w="8038" h="6818">
                  <a:moveTo>
                    <a:pt x="7275" y="391"/>
                  </a:moveTo>
                  <a:lnTo>
                    <a:pt x="7275" y="3677"/>
                  </a:lnTo>
                  <a:lnTo>
                    <a:pt x="4180" y="4677"/>
                  </a:lnTo>
                  <a:lnTo>
                    <a:pt x="4180" y="2570"/>
                  </a:lnTo>
                  <a:lnTo>
                    <a:pt x="4180" y="1760"/>
                  </a:lnTo>
                  <a:lnTo>
                    <a:pt x="4180" y="1391"/>
                  </a:lnTo>
                  <a:lnTo>
                    <a:pt x="7275" y="391"/>
                  </a:lnTo>
                  <a:close/>
                  <a:moveTo>
                    <a:pt x="310" y="748"/>
                  </a:moveTo>
                  <a:lnTo>
                    <a:pt x="429" y="796"/>
                  </a:lnTo>
                  <a:lnTo>
                    <a:pt x="429" y="3820"/>
                  </a:lnTo>
                  <a:cubicBezTo>
                    <a:pt x="429" y="3892"/>
                    <a:pt x="477" y="3951"/>
                    <a:pt x="548" y="3963"/>
                  </a:cubicBezTo>
                  <a:lnTo>
                    <a:pt x="3858" y="5023"/>
                  </a:lnTo>
                  <a:lnTo>
                    <a:pt x="3858" y="5630"/>
                  </a:lnTo>
                  <a:lnTo>
                    <a:pt x="310" y="4499"/>
                  </a:lnTo>
                  <a:lnTo>
                    <a:pt x="310" y="1332"/>
                  </a:lnTo>
                  <a:lnTo>
                    <a:pt x="310" y="748"/>
                  </a:lnTo>
                  <a:close/>
                  <a:moveTo>
                    <a:pt x="7704" y="748"/>
                  </a:moveTo>
                  <a:lnTo>
                    <a:pt x="7704" y="1332"/>
                  </a:lnTo>
                  <a:lnTo>
                    <a:pt x="7704" y="4499"/>
                  </a:lnTo>
                  <a:lnTo>
                    <a:pt x="4168" y="5630"/>
                  </a:lnTo>
                  <a:lnTo>
                    <a:pt x="4168" y="5023"/>
                  </a:lnTo>
                  <a:lnTo>
                    <a:pt x="7466" y="3963"/>
                  </a:lnTo>
                  <a:cubicBezTo>
                    <a:pt x="7525" y="3951"/>
                    <a:pt x="7585" y="3880"/>
                    <a:pt x="7585" y="3820"/>
                  </a:cubicBezTo>
                  <a:lnTo>
                    <a:pt x="7585" y="796"/>
                  </a:lnTo>
                  <a:lnTo>
                    <a:pt x="7704" y="748"/>
                  </a:lnTo>
                  <a:close/>
                  <a:moveTo>
                    <a:pt x="310" y="4844"/>
                  </a:moveTo>
                  <a:lnTo>
                    <a:pt x="3858" y="5975"/>
                  </a:lnTo>
                  <a:lnTo>
                    <a:pt x="3858" y="6440"/>
                  </a:lnTo>
                  <a:lnTo>
                    <a:pt x="310" y="5309"/>
                  </a:lnTo>
                  <a:lnTo>
                    <a:pt x="310" y="4844"/>
                  </a:lnTo>
                  <a:close/>
                  <a:moveTo>
                    <a:pt x="595" y="0"/>
                  </a:moveTo>
                  <a:cubicBezTo>
                    <a:pt x="562" y="0"/>
                    <a:pt x="522" y="17"/>
                    <a:pt x="489" y="34"/>
                  </a:cubicBezTo>
                  <a:cubicBezTo>
                    <a:pt x="441" y="70"/>
                    <a:pt x="429" y="105"/>
                    <a:pt x="429" y="165"/>
                  </a:cubicBezTo>
                  <a:lnTo>
                    <a:pt x="429" y="439"/>
                  </a:lnTo>
                  <a:lnTo>
                    <a:pt x="203" y="367"/>
                  </a:lnTo>
                  <a:cubicBezTo>
                    <a:pt x="189" y="360"/>
                    <a:pt x="175" y="358"/>
                    <a:pt x="161" y="358"/>
                  </a:cubicBezTo>
                  <a:cubicBezTo>
                    <a:pt x="127" y="358"/>
                    <a:pt x="94" y="374"/>
                    <a:pt x="60" y="391"/>
                  </a:cubicBezTo>
                  <a:cubicBezTo>
                    <a:pt x="12" y="427"/>
                    <a:pt x="1" y="463"/>
                    <a:pt x="1" y="522"/>
                  </a:cubicBezTo>
                  <a:lnTo>
                    <a:pt x="1" y="1332"/>
                  </a:lnTo>
                  <a:lnTo>
                    <a:pt x="1" y="4618"/>
                  </a:lnTo>
                  <a:lnTo>
                    <a:pt x="1" y="5428"/>
                  </a:lnTo>
                  <a:cubicBezTo>
                    <a:pt x="1" y="5499"/>
                    <a:pt x="48" y="5559"/>
                    <a:pt x="120" y="5570"/>
                  </a:cubicBezTo>
                  <a:lnTo>
                    <a:pt x="3977" y="6809"/>
                  </a:lnTo>
                  <a:cubicBezTo>
                    <a:pt x="3989" y="6815"/>
                    <a:pt x="4001" y="6818"/>
                    <a:pt x="4016" y="6818"/>
                  </a:cubicBezTo>
                  <a:cubicBezTo>
                    <a:pt x="4031" y="6818"/>
                    <a:pt x="4049" y="6815"/>
                    <a:pt x="4073" y="6809"/>
                  </a:cubicBezTo>
                  <a:lnTo>
                    <a:pt x="6061" y="6166"/>
                  </a:lnTo>
                  <a:cubicBezTo>
                    <a:pt x="6144" y="6130"/>
                    <a:pt x="6192" y="6047"/>
                    <a:pt x="6156" y="5963"/>
                  </a:cubicBezTo>
                  <a:cubicBezTo>
                    <a:pt x="6138" y="5890"/>
                    <a:pt x="6076" y="5844"/>
                    <a:pt x="6011" y="5844"/>
                  </a:cubicBezTo>
                  <a:cubicBezTo>
                    <a:pt x="5992" y="5844"/>
                    <a:pt x="5972" y="5848"/>
                    <a:pt x="5954" y="5856"/>
                  </a:cubicBezTo>
                  <a:lnTo>
                    <a:pt x="4180" y="6440"/>
                  </a:lnTo>
                  <a:lnTo>
                    <a:pt x="4180" y="5975"/>
                  </a:lnTo>
                  <a:lnTo>
                    <a:pt x="7728" y="4844"/>
                  </a:lnTo>
                  <a:lnTo>
                    <a:pt x="7728" y="5309"/>
                  </a:lnTo>
                  <a:lnTo>
                    <a:pt x="6597" y="5666"/>
                  </a:lnTo>
                  <a:cubicBezTo>
                    <a:pt x="6501" y="5690"/>
                    <a:pt x="6454" y="5773"/>
                    <a:pt x="6489" y="5868"/>
                  </a:cubicBezTo>
                  <a:cubicBezTo>
                    <a:pt x="6501" y="5940"/>
                    <a:pt x="6573" y="5987"/>
                    <a:pt x="6632" y="5987"/>
                  </a:cubicBezTo>
                  <a:cubicBezTo>
                    <a:pt x="6656" y="5987"/>
                    <a:pt x="6668" y="5987"/>
                    <a:pt x="6680" y="5975"/>
                  </a:cubicBezTo>
                  <a:lnTo>
                    <a:pt x="7918" y="5570"/>
                  </a:lnTo>
                  <a:cubicBezTo>
                    <a:pt x="7978" y="5559"/>
                    <a:pt x="8037" y="5475"/>
                    <a:pt x="8037" y="5416"/>
                  </a:cubicBezTo>
                  <a:lnTo>
                    <a:pt x="8037" y="4618"/>
                  </a:lnTo>
                  <a:lnTo>
                    <a:pt x="8037" y="1332"/>
                  </a:lnTo>
                  <a:lnTo>
                    <a:pt x="8037" y="522"/>
                  </a:lnTo>
                  <a:cubicBezTo>
                    <a:pt x="8037" y="486"/>
                    <a:pt x="8002" y="439"/>
                    <a:pt x="7966" y="403"/>
                  </a:cubicBezTo>
                  <a:cubicBezTo>
                    <a:pt x="7931" y="386"/>
                    <a:pt x="7896" y="375"/>
                    <a:pt x="7857" y="375"/>
                  </a:cubicBezTo>
                  <a:cubicBezTo>
                    <a:pt x="7842" y="375"/>
                    <a:pt x="7827" y="376"/>
                    <a:pt x="7811" y="379"/>
                  </a:cubicBezTo>
                  <a:lnTo>
                    <a:pt x="7585" y="451"/>
                  </a:lnTo>
                  <a:lnTo>
                    <a:pt x="7585" y="189"/>
                  </a:lnTo>
                  <a:cubicBezTo>
                    <a:pt x="7585" y="141"/>
                    <a:pt x="7561" y="82"/>
                    <a:pt x="7525" y="46"/>
                  </a:cubicBezTo>
                  <a:cubicBezTo>
                    <a:pt x="7499" y="29"/>
                    <a:pt x="7467" y="17"/>
                    <a:pt x="7428" y="17"/>
                  </a:cubicBezTo>
                  <a:cubicBezTo>
                    <a:pt x="7413" y="17"/>
                    <a:pt x="7398" y="19"/>
                    <a:pt x="7382" y="22"/>
                  </a:cubicBezTo>
                  <a:lnTo>
                    <a:pt x="4013" y="1094"/>
                  </a:lnTo>
                  <a:lnTo>
                    <a:pt x="1965" y="439"/>
                  </a:lnTo>
                  <a:cubicBezTo>
                    <a:pt x="1944" y="431"/>
                    <a:pt x="1923" y="427"/>
                    <a:pt x="1903" y="427"/>
                  </a:cubicBezTo>
                  <a:cubicBezTo>
                    <a:pt x="1835" y="427"/>
                    <a:pt x="1778" y="472"/>
                    <a:pt x="1751" y="546"/>
                  </a:cubicBezTo>
                  <a:cubicBezTo>
                    <a:pt x="1727" y="629"/>
                    <a:pt x="1775" y="725"/>
                    <a:pt x="1858" y="748"/>
                  </a:cubicBezTo>
                  <a:lnTo>
                    <a:pt x="3834" y="1391"/>
                  </a:lnTo>
                  <a:lnTo>
                    <a:pt x="3834" y="1760"/>
                  </a:lnTo>
                  <a:lnTo>
                    <a:pt x="3834" y="2570"/>
                  </a:lnTo>
                  <a:lnTo>
                    <a:pt x="3834" y="4677"/>
                  </a:lnTo>
                  <a:lnTo>
                    <a:pt x="739" y="3677"/>
                  </a:lnTo>
                  <a:lnTo>
                    <a:pt x="739" y="391"/>
                  </a:lnTo>
                  <a:lnTo>
                    <a:pt x="1215" y="546"/>
                  </a:lnTo>
                  <a:cubicBezTo>
                    <a:pt x="1232" y="550"/>
                    <a:pt x="1248" y="552"/>
                    <a:pt x="1264" y="552"/>
                  </a:cubicBezTo>
                  <a:cubicBezTo>
                    <a:pt x="1338" y="552"/>
                    <a:pt x="1400" y="508"/>
                    <a:pt x="1429" y="439"/>
                  </a:cubicBezTo>
                  <a:cubicBezTo>
                    <a:pt x="1453" y="344"/>
                    <a:pt x="1406" y="260"/>
                    <a:pt x="1322" y="225"/>
                  </a:cubicBezTo>
                  <a:lnTo>
                    <a:pt x="632" y="10"/>
                  </a:lnTo>
                  <a:cubicBezTo>
                    <a:pt x="621" y="3"/>
                    <a:pt x="609" y="0"/>
                    <a:pt x="595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28" name="Google Shape;142;p16"/>
            <p:cNvSpPr/>
            <p:nvPr/>
          </p:nvSpPr>
          <p:spPr>
            <a:xfrm>
              <a:off x="6872040" y="2358360"/>
              <a:ext cx="144000" cy="178560"/>
            </a:xfrm>
            <a:custGeom>
              <a:avLst/>
              <a:gdLst>
                <a:gd name="textAreaLeft" fmla="*/ 0 w 144000"/>
                <a:gd name="textAreaRight" fmla="*/ 144360 w 144000"/>
                <a:gd name="textAreaTop" fmla="*/ 0 h 178560"/>
                <a:gd name="textAreaBottom" fmla="*/ 178920 h 178560"/>
              </a:gdLst>
              <a:ahLst/>
              <a:rect l="textAreaLeft" t="textAreaTop" r="textAreaRight" b="textAreaBottom"/>
              <a:pathLst>
                <a:path w="1203" h="1493">
                  <a:moveTo>
                    <a:pt x="881" y="374"/>
                  </a:moveTo>
                  <a:lnTo>
                    <a:pt x="881" y="945"/>
                  </a:lnTo>
                  <a:lnTo>
                    <a:pt x="345" y="1112"/>
                  </a:lnTo>
                  <a:lnTo>
                    <a:pt x="345" y="540"/>
                  </a:lnTo>
                  <a:lnTo>
                    <a:pt x="881" y="374"/>
                  </a:lnTo>
                  <a:close/>
                  <a:moveTo>
                    <a:pt x="1029" y="0"/>
                  </a:moveTo>
                  <a:cubicBezTo>
                    <a:pt x="1017" y="0"/>
                    <a:pt x="1003" y="2"/>
                    <a:pt x="988" y="5"/>
                  </a:cubicBezTo>
                  <a:lnTo>
                    <a:pt x="119" y="279"/>
                  </a:lnTo>
                  <a:cubicBezTo>
                    <a:pt x="60" y="290"/>
                    <a:pt x="0" y="362"/>
                    <a:pt x="0" y="421"/>
                  </a:cubicBezTo>
                  <a:lnTo>
                    <a:pt x="0" y="1326"/>
                  </a:lnTo>
                  <a:cubicBezTo>
                    <a:pt x="0" y="1374"/>
                    <a:pt x="24" y="1433"/>
                    <a:pt x="60" y="1469"/>
                  </a:cubicBezTo>
                  <a:cubicBezTo>
                    <a:pt x="83" y="1481"/>
                    <a:pt x="119" y="1493"/>
                    <a:pt x="155" y="1493"/>
                  </a:cubicBezTo>
                  <a:cubicBezTo>
                    <a:pt x="167" y="1493"/>
                    <a:pt x="179" y="1493"/>
                    <a:pt x="191" y="1481"/>
                  </a:cubicBezTo>
                  <a:lnTo>
                    <a:pt x="1060" y="1207"/>
                  </a:lnTo>
                  <a:cubicBezTo>
                    <a:pt x="1119" y="1195"/>
                    <a:pt x="1179" y="1124"/>
                    <a:pt x="1179" y="1064"/>
                  </a:cubicBezTo>
                  <a:lnTo>
                    <a:pt x="1179" y="159"/>
                  </a:lnTo>
                  <a:cubicBezTo>
                    <a:pt x="1203" y="112"/>
                    <a:pt x="1179" y="64"/>
                    <a:pt x="1131" y="40"/>
                  </a:cubicBezTo>
                  <a:cubicBezTo>
                    <a:pt x="1095" y="14"/>
                    <a:pt x="1066" y="0"/>
                    <a:pt x="102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9280" bIns="892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2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Enunciado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Google Shape;148;p17"/>
          <p:cNvSpPr/>
          <p:nvPr/>
        </p:nvSpPr>
        <p:spPr>
          <a:xfrm>
            <a:off x="936360" y="1337040"/>
            <a:ext cx="7181280" cy="30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Crear una farmacia, darle nombre y cargarle remedios. Luego: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Realizar un incremento del 20% a los remedios con stock menor a una cantidad determinada.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Eliminar remedios del laboratorio “Bagó”.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Modificar el precio del lotrial.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Generar un diccionario que guarde la cantidad de remedios por laboratorio.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3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Enunciado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Google Shape;154;p18"/>
          <p:cNvSpPr/>
          <p:nvPr/>
        </p:nvSpPr>
        <p:spPr>
          <a:xfrm>
            <a:off x="490680" y="918000"/>
            <a:ext cx="8443440" cy="30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"Crear una farmacia, cargarle nombre y remedios"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f:= Farmacia crear: 'Pato'.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s:=true.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[MessageBox confirm: 'Desea cargar más remedios?']whileTrue:[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n:=Prompter prompt: 'Ingrese nombre del remedio'.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p:=(Prompter prompt:'Ingrese precio del remedio')asNumber.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st:=(Prompter prompt:'Ingrese stock del remedio')asNumber.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lab:=Prompter prompt:'Ingrese laboratorio del remedio'.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r:= Remedio crear: n con: p con: st con: lab.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f agregar: r.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].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Enunciado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Google Shape;160;p19"/>
          <p:cNvSpPr/>
          <p:nvPr/>
        </p:nvSpPr>
        <p:spPr>
          <a:xfrm>
            <a:off x="490680" y="1070280"/>
            <a:ext cx="8443440" cy="30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"Realizar un incremento del 20% a los remedios con stock menor a una cantidad determinada"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stockMinimo:=(Prompter prompt: 'Ingrese el stock a validar')asNumber.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1 to: f tamanio do: [:i | 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rem := f recuperar: i.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(rem verStock &lt; stockMinimo) ifTrue: [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rem modPrecio: rem verPrecio * 1.2.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].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].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Enunciado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Google Shape;166;p20"/>
          <p:cNvSpPr/>
          <p:nvPr/>
        </p:nvSpPr>
        <p:spPr>
          <a:xfrm>
            <a:off x="490680" y="1070280"/>
            <a:ext cx="8443440" cy="30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"Eliminar remedios del laboratorio “Bagó”"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i:=1.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[i &lt;= f tamanio]whileTrue:[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r:= f recuperar: i.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(r verLab = 'Bagó')ifTrue:[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f eliminar: r.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] ifFalse:[ i := i+1. ].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].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2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Enunciado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Google Shape;172;p21"/>
          <p:cNvSpPr/>
          <p:nvPr/>
        </p:nvSpPr>
        <p:spPr>
          <a:xfrm>
            <a:off x="490680" y="1070280"/>
            <a:ext cx="8443440" cy="30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"Modificar el precio del lotrial"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pre := (Prompter prompt: 'Ingrese nuevo precio')asNumber.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1 to: f tamanio do: [:i |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rem := f recuperar: i.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(rem verNombre = 'Lotrial') ifTrue: [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rem modPrecio: pre.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].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].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77;p22"/>
          <p:cNvGrpSpPr/>
          <p:nvPr/>
        </p:nvGrpSpPr>
        <p:grpSpPr>
          <a:xfrm>
            <a:off x="772560" y="726480"/>
            <a:ext cx="6577920" cy="3438000"/>
            <a:chOff x="772560" y="726480"/>
            <a:chExt cx="6577920" cy="3438000"/>
          </a:xfrm>
        </p:grpSpPr>
        <p:sp>
          <p:nvSpPr>
            <p:cNvPr id="140" name="Google Shape;178;p22"/>
            <p:cNvSpPr/>
            <p:nvPr/>
          </p:nvSpPr>
          <p:spPr>
            <a:xfrm>
              <a:off x="772560" y="726480"/>
              <a:ext cx="6577920" cy="34380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41" name="Google Shape;179;p22"/>
            <p:cNvSpPr/>
            <p:nvPr/>
          </p:nvSpPr>
          <p:spPr>
            <a:xfrm>
              <a:off x="772560" y="726480"/>
              <a:ext cx="65779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42" name="Google Shape;180;p22"/>
          <p:cNvGrpSpPr/>
          <p:nvPr/>
        </p:nvGrpSpPr>
        <p:grpSpPr>
          <a:xfrm>
            <a:off x="3993480" y="3441600"/>
            <a:ext cx="2119320" cy="1127160"/>
            <a:chOff x="3993480" y="3441600"/>
            <a:chExt cx="2119320" cy="1127160"/>
          </a:xfrm>
        </p:grpSpPr>
        <p:sp>
          <p:nvSpPr>
            <p:cNvPr id="143" name="Google Shape;181;p22"/>
            <p:cNvSpPr/>
            <p:nvPr/>
          </p:nvSpPr>
          <p:spPr>
            <a:xfrm>
              <a:off x="3993480" y="3441600"/>
              <a:ext cx="2119320" cy="112716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44" name="Google Shape;182;p22"/>
            <p:cNvSpPr/>
            <p:nvPr/>
          </p:nvSpPr>
          <p:spPr>
            <a:xfrm>
              <a:off x="3993480" y="3441600"/>
              <a:ext cx="21193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45" name="Google Shape;183;p22"/>
          <p:cNvGrpSpPr/>
          <p:nvPr/>
        </p:nvGrpSpPr>
        <p:grpSpPr>
          <a:xfrm>
            <a:off x="5422320" y="1302480"/>
            <a:ext cx="2560320" cy="1952640"/>
            <a:chOff x="5422320" y="1302480"/>
            <a:chExt cx="2560320" cy="1952640"/>
          </a:xfrm>
        </p:grpSpPr>
        <p:sp>
          <p:nvSpPr>
            <p:cNvPr id="146" name="Google Shape;184;p22"/>
            <p:cNvSpPr/>
            <p:nvPr/>
          </p:nvSpPr>
          <p:spPr>
            <a:xfrm>
              <a:off x="5422320" y="1302480"/>
              <a:ext cx="2560320" cy="195264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47" name="Google Shape;185;p22"/>
            <p:cNvSpPr/>
            <p:nvPr/>
          </p:nvSpPr>
          <p:spPr>
            <a:xfrm>
              <a:off x="5422320" y="1302480"/>
              <a:ext cx="25603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186920" y="1906560"/>
            <a:ext cx="3943080" cy="11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6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¿Iterando?</a:t>
            </a:r>
            <a:endParaRPr b="0" lang="es-AR" sz="4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Google Shape;187;p22"/>
          <p:cNvSpPr/>
          <p:nvPr/>
        </p:nvSpPr>
        <p:spPr>
          <a:xfrm>
            <a:off x="842040" y="1094400"/>
            <a:ext cx="10771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3"/>
                </a:solidFill>
                <a:uFillTx/>
                <a:latin typeface="Quantico"/>
                <a:ea typeface="Quantico"/>
              </a:rPr>
              <a:t>&lt;/&gt;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0" name="Google Shape;188;p22"/>
          <p:cNvSpPr/>
          <p:nvPr/>
        </p:nvSpPr>
        <p:spPr>
          <a:xfrm>
            <a:off x="4444920" y="3760920"/>
            <a:ext cx="1216440" cy="7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}</a:t>
            </a:r>
            <a:r>
              <a:rPr b="0" lang="en" sz="3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/&gt; </a:t>
            </a:r>
            <a:r>
              <a:rPr b="0" lang="en" sz="3600" strike="noStrike" u="none">
                <a:solidFill>
                  <a:schemeClr val="accent1"/>
                </a:solidFill>
                <a:uFillTx/>
                <a:latin typeface="Arial"/>
                <a:ea typeface="Arial"/>
              </a:rPr>
              <a:t>[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51" name="Google Shape;189;p22" descr=""/>
          <p:cNvPicPr/>
          <p:nvPr/>
        </p:nvPicPr>
        <p:blipFill>
          <a:blip r:embed="rId1"/>
          <a:stretch/>
        </p:blipFill>
        <p:spPr>
          <a:xfrm>
            <a:off x="6026040" y="1609920"/>
            <a:ext cx="1558800" cy="155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94;p23"/>
          <p:cNvGrpSpPr/>
          <p:nvPr/>
        </p:nvGrpSpPr>
        <p:grpSpPr>
          <a:xfrm>
            <a:off x="772560" y="726480"/>
            <a:ext cx="6577920" cy="3438000"/>
            <a:chOff x="772560" y="726480"/>
            <a:chExt cx="6577920" cy="3438000"/>
          </a:xfrm>
        </p:grpSpPr>
        <p:sp>
          <p:nvSpPr>
            <p:cNvPr id="153" name="Google Shape;195;p23"/>
            <p:cNvSpPr/>
            <p:nvPr/>
          </p:nvSpPr>
          <p:spPr>
            <a:xfrm>
              <a:off x="772560" y="726480"/>
              <a:ext cx="6577920" cy="34380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54" name="Google Shape;196;p23"/>
            <p:cNvSpPr/>
            <p:nvPr/>
          </p:nvSpPr>
          <p:spPr>
            <a:xfrm>
              <a:off x="772560" y="726480"/>
              <a:ext cx="65779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55" name="Google Shape;197;p23"/>
          <p:cNvGrpSpPr/>
          <p:nvPr/>
        </p:nvGrpSpPr>
        <p:grpSpPr>
          <a:xfrm>
            <a:off x="3993480" y="3441600"/>
            <a:ext cx="2119320" cy="1127160"/>
            <a:chOff x="3993480" y="3441600"/>
            <a:chExt cx="2119320" cy="1127160"/>
          </a:xfrm>
        </p:grpSpPr>
        <p:sp>
          <p:nvSpPr>
            <p:cNvPr id="156" name="Google Shape;198;p23"/>
            <p:cNvSpPr/>
            <p:nvPr/>
          </p:nvSpPr>
          <p:spPr>
            <a:xfrm>
              <a:off x="3993480" y="3441600"/>
              <a:ext cx="2119320" cy="112716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57" name="Google Shape;199;p23"/>
            <p:cNvSpPr/>
            <p:nvPr/>
          </p:nvSpPr>
          <p:spPr>
            <a:xfrm>
              <a:off x="3993480" y="3441600"/>
              <a:ext cx="21193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58" name="Google Shape;200;p23"/>
          <p:cNvGrpSpPr/>
          <p:nvPr/>
        </p:nvGrpSpPr>
        <p:grpSpPr>
          <a:xfrm>
            <a:off x="5422320" y="1302480"/>
            <a:ext cx="2560320" cy="1952640"/>
            <a:chOff x="5422320" y="1302480"/>
            <a:chExt cx="2560320" cy="1952640"/>
          </a:xfrm>
        </p:grpSpPr>
        <p:sp>
          <p:nvSpPr>
            <p:cNvPr id="159" name="Google Shape;201;p23"/>
            <p:cNvSpPr/>
            <p:nvPr/>
          </p:nvSpPr>
          <p:spPr>
            <a:xfrm>
              <a:off x="5422320" y="1302480"/>
              <a:ext cx="2560320" cy="195264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60" name="Google Shape;202;p23"/>
            <p:cNvSpPr/>
            <p:nvPr/>
          </p:nvSpPr>
          <p:spPr>
            <a:xfrm>
              <a:off x="5422320" y="1302480"/>
              <a:ext cx="25603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186920" y="1906560"/>
            <a:ext cx="3943080" cy="11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6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Diccionario</a:t>
            </a:r>
            <a:endParaRPr b="0" lang="es-AR" sz="4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Google Shape;204;p23"/>
          <p:cNvSpPr/>
          <p:nvPr/>
        </p:nvSpPr>
        <p:spPr>
          <a:xfrm>
            <a:off x="842040" y="1094400"/>
            <a:ext cx="10771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&lt;/&gt;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3" name="Google Shape;205;p23"/>
          <p:cNvSpPr/>
          <p:nvPr/>
        </p:nvSpPr>
        <p:spPr>
          <a:xfrm>
            <a:off x="4444920" y="3760920"/>
            <a:ext cx="1216440" cy="7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}</a:t>
            </a:r>
            <a:r>
              <a:rPr b="0" lang="en" sz="3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/&gt; </a:t>
            </a:r>
            <a:r>
              <a:rPr b="0" lang="en" sz="3600" strike="noStrike" u="none">
                <a:solidFill>
                  <a:schemeClr val="accent1"/>
                </a:solidFill>
                <a:uFillTx/>
                <a:latin typeface="Arial"/>
                <a:ea typeface="Arial"/>
              </a:rPr>
              <a:t>[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164" name="Google Shape;206;p23"/>
          <p:cNvGrpSpPr/>
          <p:nvPr/>
        </p:nvGrpSpPr>
        <p:grpSpPr>
          <a:xfrm>
            <a:off x="6012000" y="1804680"/>
            <a:ext cx="1509480" cy="1229040"/>
            <a:chOff x="6012000" y="1804680"/>
            <a:chExt cx="1509480" cy="1229040"/>
          </a:xfrm>
        </p:grpSpPr>
        <p:sp>
          <p:nvSpPr>
            <p:cNvPr id="165" name="Google Shape;207;p23"/>
            <p:cNvSpPr/>
            <p:nvPr/>
          </p:nvSpPr>
          <p:spPr>
            <a:xfrm>
              <a:off x="6012000" y="1804680"/>
              <a:ext cx="1509480" cy="1229040"/>
            </a:xfrm>
            <a:custGeom>
              <a:avLst/>
              <a:gdLst>
                <a:gd name="textAreaLeft" fmla="*/ 0 w 1509480"/>
                <a:gd name="textAreaRight" fmla="*/ 1509840 w 1509480"/>
                <a:gd name="textAreaTop" fmla="*/ 0 h 1229040"/>
                <a:gd name="textAreaBottom" fmla="*/ 1229400 h 1229040"/>
              </a:gdLst>
              <a:ahLst/>
              <a:rect l="textAreaLeft" t="textAreaTop" r="textAreaRight" b="textAreaBottom"/>
              <a:pathLst>
                <a:path w="11086" h="9026">
                  <a:moveTo>
                    <a:pt x="5370" y="334"/>
                  </a:moveTo>
                  <a:lnTo>
                    <a:pt x="5370" y="7001"/>
                  </a:lnTo>
                  <a:lnTo>
                    <a:pt x="941" y="7001"/>
                  </a:lnTo>
                  <a:lnTo>
                    <a:pt x="941" y="334"/>
                  </a:lnTo>
                  <a:close/>
                  <a:moveTo>
                    <a:pt x="5370" y="7323"/>
                  </a:moveTo>
                  <a:lnTo>
                    <a:pt x="5370" y="7656"/>
                  </a:lnTo>
                  <a:lnTo>
                    <a:pt x="941" y="7656"/>
                  </a:lnTo>
                  <a:lnTo>
                    <a:pt x="941" y="7323"/>
                  </a:lnTo>
                  <a:close/>
                  <a:moveTo>
                    <a:pt x="10133" y="7323"/>
                  </a:moveTo>
                  <a:lnTo>
                    <a:pt x="10133" y="7656"/>
                  </a:lnTo>
                  <a:lnTo>
                    <a:pt x="5704" y="7656"/>
                  </a:lnTo>
                  <a:lnTo>
                    <a:pt x="5704" y="7323"/>
                  </a:lnTo>
                  <a:close/>
                  <a:moveTo>
                    <a:pt x="5835" y="7977"/>
                  </a:moveTo>
                  <a:lnTo>
                    <a:pt x="5835" y="8680"/>
                  </a:lnTo>
                  <a:lnTo>
                    <a:pt x="5240" y="8692"/>
                  </a:lnTo>
                  <a:cubicBezTo>
                    <a:pt x="5240" y="8692"/>
                    <a:pt x="5228" y="8692"/>
                    <a:pt x="5228" y="8680"/>
                  </a:cubicBezTo>
                  <a:lnTo>
                    <a:pt x="5228" y="7977"/>
                  </a:lnTo>
                  <a:close/>
                  <a:moveTo>
                    <a:pt x="775" y="0"/>
                  </a:moveTo>
                  <a:cubicBezTo>
                    <a:pt x="691" y="0"/>
                    <a:pt x="608" y="72"/>
                    <a:pt x="608" y="167"/>
                  </a:cubicBezTo>
                  <a:lnTo>
                    <a:pt x="608" y="536"/>
                  </a:lnTo>
                  <a:lnTo>
                    <a:pt x="465" y="536"/>
                  </a:lnTo>
                  <a:cubicBezTo>
                    <a:pt x="215" y="536"/>
                    <a:pt x="1" y="738"/>
                    <a:pt x="1" y="1000"/>
                  </a:cubicBezTo>
                  <a:lnTo>
                    <a:pt x="1" y="1715"/>
                  </a:lnTo>
                  <a:cubicBezTo>
                    <a:pt x="1" y="1798"/>
                    <a:pt x="72" y="1881"/>
                    <a:pt x="167" y="1881"/>
                  </a:cubicBezTo>
                  <a:cubicBezTo>
                    <a:pt x="251" y="1881"/>
                    <a:pt x="334" y="1798"/>
                    <a:pt x="334" y="1715"/>
                  </a:cubicBezTo>
                  <a:lnTo>
                    <a:pt x="334" y="1000"/>
                  </a:lnTo>
                  <a:cubicBezTo>
                    <a:pt x="334" y="929"/>
                    <a:pt x="394" y="869"/>
                    <a:pt x="465" y="869"/>
                  </a:cubicBezTo>
                  <a:lnTo>
                    <a:pt x="608" y="869"/>
                  </a:lnTo>
                  <a:lnTo>
                    <a:pt x="608" y="7799"/>
                  </a:lnTo>
                  <a:cubicBezTo>
                    <a:pt x="608" y="7894"/>
                    <a:pt x="691" y="7965"/>
                    <a:pt x="775" y="7965"/>
                  </a:cubicBezTo>
                  <a:lnTo>
                    <a:pt x="4918" y="7965"/>
                  </a:lnTo>
                  <a:lnTo>
                    <a:pt x="4918" y="8335"/>
                  </a:lnTo>
                  <a:lnTo>
                    <a:pt x="465" y="8335"/>
                  </a:lnTo>
                  <a:cubicBezTo>
                    <a:pt x="394" y="8335"/>
                    <a:pt x="334" y="8275"/>
                    <a:pt x="334" y="8204"/>
                  </a:cubicBezTo>
                  <a:lnTo>
                    <a:pt x="334" y="2429"/>
                  </a:lnTo>
                  <a:cubicBezTo>
                    <a:pt x="334" y="2334"/>
                    <a:pt x="251" y="2262"/>
                    <a:pt x="167" y="2262"/>
                  </a:cubicBezTo>
                  <a:cubicBezTo>
                    <a:pt x="72" y="2262"/>
                    <a:pt x="1" y="2334"/>
                    <a:pt x="1" y="2429"/>
                  </a:cubicBezTo>
                  <a:lnTo>
                    <a:pt x="1" y="8204"/>
                  </a:lnTo>
                  <a:cubicBezTo>
                    <a:pt x="1" y="8454"/>
                    <a:pt x="215" y="8668"/>
                    <a:pt x="465" y="8668"/>
                  </a:cubicBezTo>
                  <a:lnTo>
                    <a:pt x="4918" y="8668"/>
                  </a:lnTo>
                  <a:lnTo>
                    <a:pt x="4918" y="8680"/>
                  </a:lnTo>
                  <a:cubicBezTo>
                    <a:pt x="4918" y="8858"/>
                    <a:pt x="5061" y="9025"/>
                    <a:pt x="5251" y="9025"/>
                  </a:cubicBezTo>
                  <a:lnTo>
                    <a:pt x="5835" y="9025"/>
                  </a:lnTo>
                  <a:cubicBezTo>
                    <a:pt x="6013" y="9025"/>
                    <a:pt x="6180" y="8870"/>
                    <a:pt x="6180" y="8680"/>
                  </a:cubicBezTo>
                  <a:lnTo>
                    <a:pt x="6180" y="8668"/>
                  </a:lnTo>
                  <a:lnTo>
                    <a:pt x="10633" y="8668"/>
                  </a:lnTo>
                  <a:cubicBezTo>
                    <a:pt x="10883" y="8668"/>
                    <a:pt x="11085" y="8454"/>
                    <a:pt x="11085" y="8204"/>
                  </a:cubicBezTo>
                  <a:lnTo>
                    <a:pt x="11085" y="1012"/>
                  </a:lnTo>
                  <a:cubicBezTo>
                    <a:pt x="11074" y="762"/>
                    <a:pt x="10871" y="548"/>
                    <a:pt x="10609" y="548"/>
                  </a:cubicBezTo>
                  <a:lnTo>
                    <a:pt x="10466" y="548"/>
                  </a:lnTo>
                  <a:lnTo>
                    <a:pt x="10466" y="179"/>
                  </a:lnTo>
                  <a:cubicBezTo>
                    <a:pt x="10466" y="95"/>
                    <a:pt x="10395" y="12"/>
                    <a:pt x="10300" y="12"/>
                  </a:cubicBezTo>
                  <a:lnTo>
                    <a:pt x="9692" y="12"/>
                  </a:lnTo>
                  <a:cubicBezTo>
                    <a:pt x="9597" y="12"/>
                    <a:pt x="9526" y="95"/>
                    <a:pt x="9526" y="179"/>
                  </a:cubicBezTo>
                  <a:cubicBezTo>
                    <a:pt x="9526" y="274"/>
                    <a:pt x="9597" y="345"/>
                    <a:pt x="9692" y="345"/>
                  </a:cubicBezTo>
                  <a:lnTo>
                    <a:pt x="10133" y="345"/>
                  </a:lnTo>
                  <a:lnTo>
                    <a:pt x="10133" y="5894"/>
                  </a:lnTo>
                  <a:cubicBezTo>
                    <a:pt x="10133" y="5989"/>
                    <a:pt x="10216" y="6060"/>
                    <a:pt x="10300" y="6060"/>
                  </a:cubicBezTo>
                  <a:cubicBezTo>
                    <a:pt x="10395" y="6060"/>
                    <a:pt x="10466" y="5989"/>
                    <a:pt x="10466" y="5894"/>
                  </a:cubicBezTo>
                  <a:lnTo>
                    <a:pt x="10466" y="881"/>
                  </a:lnTo>
                  <a:lnTo>
                    <a:pt x="10609" y="881"/>
                  </a:lnTo>
                  <a:cubicBezTo>
                    <a:pt x="10693" y="881"/>
                    <a:pt x="10752" y="941"/>
                    <a:pt x="10752" y="1012"/>
                  </a:cubicBezTo>
                  <a:lnTo>
                    <a:pt x="10752" y="8204"/>
                  </a:lnTo>
                  <a:cubicBezTo>
                    <a:pt x="10752" y="8275"/>
                    <a:pt x="10693" y="8335"/>
                    <a:pt x="10609" y="8335"/>
                  </a:cubicBezTo>
                  <a:lnTo>
                    <a:pt x="6168" y="8335"/>
                  </a:lnTo>
                  <a:lnTo>
                    <a:pt x="6168" y="7965"/>
                  </a:lnTo>
                  <a:lnTo>
                    <a:pt x="10300" y="7965"/>
                  </a:lnTo>
                  <a:cubicBezTo>
                    <a:pt x="10395" y="7965"/>
                    <a:pt x="10466" y="7882"/>
                    <a:pt x="10466" y="7799"/>
                  </a:cubicBezTo>
                  <a:lnTo>
                    <a:pt x="10466" y="6584"/>
                  </a:lnTo>
                  <a:cubicBezTo>
                    <a:pt x="10466" y="6489"/>
                    <a:pt x="10395" y="6418"/>
                    <a:pt x="10300" y="6418"/>
                  </a:cubicBezTo>
                  <a:cubicBezTo>
                    <a:pt x="10216" y="6418"/>
                    <a:pt x="10133" y="6489"/>
                    <a:pt x="10133" y="6584"/>
                  </a:cubicBezTo>
                  <a:lnTo>
                    <a:pt x="10133" y="7001"/>
                  </a:lnTo>
                  <a:lnTo>
                    <a:pt x="5704" y="7001"/>
                  </a:lnTo>
                  <a:lnTo>
                    <a:pt x="5704" y="334"/>
                  </a:lnTo>
                  <a:lnTo>
                    <a:pt x="9002" y="334"/>
                  </a:lnTo>
                  <a:cubicBezTo>
                    <a:pt x="9097" y="334"/>
                    <a:pt x="9169" y="250"/>
                    <a:pt x="9169" y="167"/>
                  </a:cubicBezTo>
                  <a:cubicBezTo>
                    <a:pt x="9169" y="72"/>
                    <a:pt x="9097" y="0"/>
                    <a:pt x="900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6" name="Google Shape;208;p23"/>
            <p:cNvSpPr/>
            <p:nvPr/>
          </p:nvSpPr>
          <p:spPr>
            <a:xfrm>
              <a:off x="6346080" y="1953720"/>
              <a:ext cx="316080" cy="45000"/>
            </a:xfrm>
            <a:custGeom>
              <a:avLst/>
              <a:gdLst>
                <a:gd name="textAreaLeft" fmla="*/ 0 w 316080"/>
                <a:gd name="textAreaRight" fmla="*/ 316440 w 316080"/>
                <a:gd name="textAreaTop" fmla="*/ 0 h 45000"/>
                <a:gd name="textAreaBottom" fmla="*/ 45360 h 45000"/>
              </a:gdLst>
              <a:ahLst/>
              <a:rect l="textAreaLeft" t="textAreaTop" r="textAreaRight" b="textAreaBottom"/>
              <a:pathLst>
                <a:path w="2323" h="334">
                  <a:moveTo>
                    <a:pt x="167" y="1"/>
                  </a:moveTo>
                  <a:cubicBezTo>
                    <a:pt x="84" y="1"/>
                    <a:pt x="0" y="84"/>
                    <a:pt x="0" y="167"/>
                  </a:cubicBezTo>
                  <a:cubicBezTo>
                    <a:pt x="0" y="262"/>
                    <a:pt x="84" y="334"/>
                    <a:pt x="167" y="334"/>
                  </a:cubicBezTo>
                  <a:lnTo>
                    <a:pt x="2167" y="334"/>
                  </a:lnTo>
                  <a:cubicBezTo>
                    <a:pt x="2251" y="334"/>
                    <a:pt x="2322" y="262"/>
                    <a:pt x="2322" y="167"/>
                  </a:cubicBezTo>
                  <a:cubicBezTo>
                    <a:pt x="2322" y="84"/>
                    <a:pt x="2251" y="1"/>
                    <a:pt x="216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7" name="Google Shape;209;p23"/>
            <p:cNvSpPr/>
            <p:nvPr/>
          </p:nvSpPr>
          <p:spPr>
            <a:xfrm>
              <a:off x="6222600" y="2043000"/>
              <a:ext cx="439200" cy="45000"/>
            </a:xfrm>
            <a:custGeom>
              <a:avLst/>
              <a:gdLst>
                <a:gd name="textAreaLeft" fmla="*/ 0 w 439200"/>
                <a:gd name="textAreaRight" fmla="*/ 439560 w 439200"/>
                <a:gd name="textAreaTop" fmla="*/ 0 h 45000"/>
                <a:gd name="textAreaBottom" fmla="*/ 45360 h 45000"/>
              </a:gdLst>
              <a:ahLst/>
              <a:rect l="textAreaLeft" t="textAreaTop" r="textAreaRight" b="textAreaBottom"/>
              <a:pathLst>
                <a:path w="3228" h="334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2" y="262"/>
                    <a:pt x="72" y="334"/>
                    <a:pt x="167" y="334"/>
                  </a:cubicBezTo>
                  <a:lnTo>
                    <a:pt x="3072" y="334"/>
                  </a:lnTo>
                  <a:cubicBezTo>
                    <a:pt x="3156" y="334"/>
                    <a:pt x="3227" y="262"/>
                    <a:pt x="3227" y="167"/>
                  </a:cubicBezTo>
                  <a:cubicBezTo>
                    <a:pt x="3227" y="84"/>
                    <a:pt x="3156" y="0"/>
                    <a:pt x="307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8" name="Google Shape;210;p23"/>
            <p:cNvSpPr/>
            <p:nvPr/>
          </p:nvSpPr>
          <p:spPr>
            <a:xfrm>
              <a:off x="6222600" y="2130480"/>
              <a:ext cx="439200" cy="45000"/>
            </a:xfrm>
            <a:custGeom>
              <a:avLst/>
              <a:gdLst>
                <a:gd name="textAreaLeft" fmla="*/ 0 w 439200"/>
                <a:gd name="textAreaRight" fmla="*/ 439560 w 439200"/>
                <a:gd name="textAreaTop" fmla="*/ 0 h 45000"/>
                <a:gd name="textAreaBottom" fmla="*/ 45360 h 45000"/>
              </a:gdLst>
              <a:ahLst/>
              <a:rect l="textAreaLeft" t="textAreaTop" r="textAreaRight" b="textAreaBottom"/>
              <a:pathLst>
                <a:path w="3228" h="334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2" y="274"/>
                    <a:pt x="72" y="334"/>
                    <a:pt x="167" y="334"/>
                  </a:cubicBezTo>
                  <a:lnTo>
                    <a:pt x="3072" y="334"/>
                  </a:lnTo>
                  <a:cubicBezTo>
                    <a:pt x="3156" y="334"/>
                    <a:pt x="3227" y="262"/>
                    <a:pt x="3227" y="167"/>
                  </a:cubicBezTo>
                  <a:cubicBezTo>
                    <a:pt x="3227" y="84"/>
                    <a:pt x="3156" y="0"/>
                    <a:pt x="307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69" name="Google Shape;211;p23"/>
            <p:cNvSpPr/>
            <p:nvPr/>
          </p:nvSpPr>
          <p:spPr>
            <a:xfrm>
              <a:off x="6222600" y="2219760"/>
              <a:ext cx="346680" cy="45000"/>
            </a:xfrm>
            <a:custGeom>
              <a:avLst/>
              <a:gdLst>
                <a:gd name="textAreaLeft" fmla="*/ 0 w 346680"/>
                <a:gd name="textAreaRight" fmla="*/ 347040 w 346680"/>
                <a:gd name="textAreaTop" fmla="*/ 0 h 45000"/>
                <a:gd name="textAreaBottom" fmla="*/ 45360 h 45000"/>
              </a:gdLst>
              <a:ahLst/>
              <a:rect l="textAreaLeft" t="textAreaTop" r="textAreaRight" b="textAreaBottom"/>
              <a:pathLst>
                <a:path w="2549" h="334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cubicBezTo>
                    <a:pt x="12" y="262"/>
                    <a:pt x="72" y="334"/>
                    <a:pt x="167" y="334"/>
                  </a:cubicBezTo>
                  <a:lnTo>
                    <a:pt x="2382" y="334"/>
                  </a:lnTo>
                  <a:cubicBezTo>
                    <a:pt x="2477" y="334"/>
                    <a:pt x="2549" y="262"/>
                    <a:pt x="2549" y="167"/>
                  </a:cubicBezTo>
                  <a:cubicBezTo>
                    <a:pt x="2549" y="84"/>
                    <a:pt x="2477" y="0"/>
                    <a:pt x="238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0" name="Google Shape;212;p23"/>
            <p:cNvSpPr/>
            <p:nvPr/>
          </p:nvSpPr>
          <p:spPr>
            <a:xfrm>
              <a:off x="6346080" y="2396160"/>
              <a:ext cx="316080" cy="45360"/>
            </a:xfrm>
            <a:custGeom>
              <a:avLst/>
              <a:gdLst>
                <a:gd name="textAreaLeft" fmla="*/ 0 w 316080"/>
                <a:gd name="textAreaRight" fmla="*/ 316440 w 316080"/>
                <a:gd name="textAreaTop" fmla="*/ 0 h 45360"/>
                <a:gd name="textAreaBottom" fmla="*/ 45720 h 45360"/>
              </a:gdLst>
              <a:ahLst/>
              <a:rect l="textAreaLeft" t="textAreaTop" r="textAreaRight" b="textAreaBottom"/>
              <a:pathLst>
                <a:path w="2323" h="335">
                  <a:moveTo>
                    <a:pt x="167" y="1"/>
                  </a:moveTo>
                  <a:cubicBezTo>
                    <a:pt x="84" y="1"/>
                    <a:pt x="0" y="72"/>
                    <a:pt x="0" y="168"/>
                  </a:cubicBezTo>
                  <a:cubicBezTo>
                    <a:pt x="0" y="251"/>
                    <a:pt x="84" y="334"/>
                    <a:pt x="167" y="334"/>
                  </a:cubicBezTo>
                  <a:lnTo>
                    <a:pt x="2167" y="334"/>
                  </a:lnTo>
                  <a:cubicBezTo>
                    <a:pt x="2251" y="334"/>
                    <a:pt x="2322" y="251"/>
                    <a:pt x="2322" y="168"/>
                  </a:cubicBezTo>
                  <a:cubicBezTo>
                    <a:pt x="2322" y="72"/>
                    <a:pt x="2251" y="1"/>
                    <a:pt x="216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1" name="Google Shape;213;p23"/>
            <p:cNvSpPr/>
            <p:nvPr/>
          </p:nvSpPr>
          <p:spPr>
            <a:xfrm>
              <a:off x="6222600" y="2484000"/>
              <a:ext cx="439200" cy="43560"/>
            </a:xfrm>
            <a:custGeom>
              <a:avLst/>
              <a:gdLst>
                <a:gd name="textAreaLeft" fmla="*/ 0 w 439200"/>
                <a:gd name="textAreaRight" fmla="*/ 439560 w 439200"/>
                <a:gd name="textAreaTop" fmla="*/ 0 h 43560"/>
                <a:gd name="textAreaBottom" fmla="*/ 43920 h 43560"/>
              </a:gdLst>
              <a:ahLst/>
              <a:rect l="textAreaLeft" t="textAreaTop" r="textAreaRight" b="textAreaBottom"/>
              <a:pathLst>
                <a:path w="3228" h="323">
                  <a:moveTo>
                    <a:pt x="167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2" y="263"/>
                    <a:pt x="72" y="322"/>
                    <a:pt x="167" y="322"/>
                  </a:cubicBezTo>
                  <a:lnTo>
                    <a:pt x="3072" y="322"/>
                  </a:lnTo>
                  <a:cubicBezTo>
                    <a:pt x="3156" y="322"/>
                    <a:pt x="3227" y="251"/>
                    <a:pt x="3227" y="168"/>
                  </a:cubicBezTo>
                  <a:cubicBezTo>
                    <a:pt x="3227" y="72"/>
                    <a:pt x="3156" y="1"/>
                    <a:pt x="3072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2" name="Google Shape;214;p23"/>
            <p:cNvSpPr/>
            <p:nvPr/>
          </p:nvSpPr>
          <p:spPr>
            <a:xfrm>
              <a:off x="6222600" y="2572920"/>
              <a:ext cx="210600" cy="4356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43560"/>
                <a:gd name="textAreaBottom" fmla="*/ 43920 h 43560"/>
              </a:gdLst>
              <a:ahLst/>
              <a:rect l="textAreaLeft" t="textAreaTop" r="textAreaRight" b="textAreaBottom"/>
              <a:pathLst>
                <a:path w="1549" h="323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2" y="251"/>
                    <a:pt x="72" y="322"/>
                    <a:pt x="167" y="322"/>
                  </a:cubicBezTo>
                  <a:lnTo>
                    <a:pt x="1382" y="322"/>
                  </a:lnTo>
                  <a:cubicBezTo>
                    <a:pt x="1477" y="322"/>
                    <a:pt x="1548" y="251"/>
                    <a:pt x="1548" y="167"/>
                  </a:cubicBezTo>
                  <a:cubicBezTo>
                    <a:pt x="1548" y="72"/>
                    <a:pt x="1477" y="1"/>
                    <a:pt x="1382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3" name="Google Shape;215;p23"/>
            <p:cNvSpPr/>
            <p:nvPr/>
          </p:nvSpPr>
          <p:spPr>
            <a:xfrm>
              <a:off x="6984720" y="2250360"/>
              <a:ext cx="316080" cy="45000"/>
            </a:xfrm>
            <a:custGeom>
              <a:avLst/>
              <a:gdLst>
                <a:gd name="textAreaLeft" fmla="*/ 0 w 316080"/>
                <a:gd name="textAreaRight" fmla="*/ 316440 w 316080"/>
                <a:gd name="textAreaTop" fmla="*/ 0 h 45000"/>
                <a:gd name="textAreaBottom" fmla="*/ 45360 h 45000"/>
              </a:gdLst>
              <a:ahLst/>
              <a:rect l="textAreaLeft" t="textAreaTop" r="textAreaRight" b="textAreaBottom"/>
              <a:pathLst>
                <a:path w="2323" h="334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2156" y="334"/>
                  </a:lnTo>
                  <a:cubicBezTo>
                    <a:pt x="2251" y="334"/>
                    <a:pt x="2322" y="250"/>
                    <a:pt x="2322" y="167"/>
                  </a:cubicBezTo>
                  <a:cubicBezTo>
                    <a:pt x="2322" y="72"/>
                    <a:pt x="2251" y="0"/>
                    <a:pt x="2156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2680" bIns="226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4" name="Google Shape;216;p23"/>
            <p:cNvSpPr/>
            <p:nvPr/>
          </p:nvSpPr>
          <p:spPr>
            <a:xfrm>
              <a:off x="6861600" y="2337840"/>
              <a:ext cx="439200" cy="43560"/>
            </a:xfrm>
            <a:custGeom>
              <a:avLst/>
              <a:gdLst>
                <a:gd name="textAreaLeft" fmla="*/ 0 w 439200"/>
                <a:gd name="textAreaRight" fmla="*/ 439560 w 439200"/>
                <a:gd name="textAreaTop" fmla="*/ 0 h 43560"/>
                <a:gd name="textAreaBottom" fmla="*/ 43920 h 43560"/>
              </a:gdLst>
              <a:ahLst/>
              <a:rect l="textAreaLeft" t="textAreaTop" r="textAreaRight" b="textAreaBottom"/>
              <a:pathLst>
                <a:path w="3228" h="322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3061" y="322"/>
                  </a:lnTo>
                  <a:cubicBezTo>
                    <a:pt x="3156" y="322"/>
                    <a:pt x="3227" y="250"/>
                    <a:pt x="3227" y="167"/>
                  </a:cubicBezTo>
                  <a:cubicBezTo>
                    <a:pt x="3227" y="72"/>
                    <a:pt x="3156" y="0"/>
                    <a:pt x="3061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5" name="Google Shape;217;p23"/>
            <p:cNvSpPr/>
            <p:nvPr/>
          </p:nvSpPr>
          <p:spPr>
            <a:xfrm>
              <a:off x="6861600" y="2427120"/>
              <a:ext cx="210600" cy="43560"/>
            </a:xfrm>
            <a:custGeom>
              <a:avLst/>
              <a:gdLst>
                <a:gd name="textAreaLeft" fmla="*/ 0 w 210600"/>
                <a:gd name="textAreaRight" fmla="*/ 210960 w 210600"/>
                <a:gd name="textAreaTop" fmla="*/ 0 h 43560"/>
                <a:gd name="textAreaBottom" fmla="*/ 43920 h 43560"/>
              </a:gdLst>
              <a:ahLst/>
              <a:rect l="textAreaLeft" t="textAreaTop" r="textAreaRight" b="textAreaBottom"/>
              <a:pathLst>
                <a:path w="1549" h="322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1382" y="322"/>
                  </a:lnTo>
                  <a:cubicBezTo>
                    <a:pt x="1477" y="322"/>
                    <a:pt x="1548" y="250"/>
                    <a:pt x="1548" y="167"/>
                  </a:cubicBezTo>
                  <a:cubicBezTo>
                    <a:pt x="1548" y="72"/>
                    <a:pt x="1477" y="0"/>
                    <a:pt x="138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960" bIns="21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176" name="Google Shape;218;p23"/>
            <p:cNvSpPr/>
            <p:nvPr/>
          </p:nvSpPr>
          <p:spPr>
            <a:xfrm>
              <a:off x="6871320" y="1953720"/>
              <a:ext cx="439200" cy="192600"/>
            </a:xfrm>
            <a:custGeom>
              <a:avLst/>
              <a:gdLst>
                <a:gd name="textAreaLeft" fmla="*/ 0 w 439200"/>
                <a:gd name="textAreaRight" fmla="*/ 439560 w 439200"/>
                <a:gd name="textAreaTop" fmla="*/ 0 h 192600"/>
                <a:gd name="textAreaBottom" fmla="*/ 192960 h 192600"/>
              </a:gdLst>
              <a:ahLst/>
              <a:rect l="textAreaLeft" t="textAreaTop" r="textAreaRight" b="textAreaBottom"/>
              <a:pathLst>
                <a:path w="3227" h="1418">
                  <a:moveTo>
                    <a:pt x="2905" y="334"/>
                  </a:moveTo>
                  <a:lnTo>
                    <a:pt x="2905" y="1096"/>
                  </a:lnTo>
                  <a:lnTo>
                    <a:pt x="333" y="1096"/>
                  </a:lnTo>
                  <a:lnTo>
                    <a:pt x="333" y="334"/>
                  </a:lnTo>
                  <a:close/>
                  <a:moveTo>
                    <a:pt x="167" y="1"/>
                  </a:moveTo>
                  <a:cubicBezTo>
                    <a:pt x="72" y="12"/>
                    <a:pt x="0" y="84"/>
                    <a:pt x="0" y="167"/>
                  </a:cubicBezTo>
                  <a:lnTo>
                    <a:pt x="0" y="1251"/>
                  </a:lnTo>
                  <a:cubicBezTo>
                    <a:pt x="0" y="1346"/>
                    <a:pt x="72" y="1417"/>
                    <a:pt x="167" y="1417"/>
                  </a:cubicBezTo>
                  <a:lnTo>
                    <a:pt x="3072" y="1417"/>
                  </a:lnTo>
                  <a:cubicBezTo>
                    <a:pt x="3155" y="1417"/>
                    <a:pt x="3227" y="1346"/>
                    <a:pt x="3227" y="1251"/>
                  </a:cubicBezTo>
                  <a:lnTo>
                    <a:pt x="3227" y="167"/>
                  </a:lnTo>
                  <a:cubicBezTo>
                    <a:pt x="3227" y="84"/>
                    <a:pt x="3155" y="1"/>
                    <a:pt x="3072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223;p24"/>
          <p:cNvSpPr/>
          <p:nvPr/>
        </p:nvSpPr>
        <p:spPr>
          <a:xfrm>
            <a:off x="720000" y="1721160"/>
            <a:ext cx="7703640" cy="94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Generar un diccionario que guarde la cantidad de remedios por laboratorio.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Diccionario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229;p25"/>
          <p:cNvSpPr/>
          <p:nvPr/>
        </p:nvSpPr>
        <p:spPr>
          <a:xfrm>
            <a:off x="720000" y="913680"/>
            <a:ext cx="7703640" cy="38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dic:= Dictionary new.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col:= far verTodos.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colLab:= col collect:[:el | el verLab].  “tomo los nombres de todos los laboratorios”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sinRep:= colLab asSet. “saco los repetidos”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sinRep do: [: el| dic at: el put: ( colLab occurrencesOf: el)].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“</a:t>
            </a:r>
            <a:r>
              <a:rPr b="0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recorro el diccionario por claves e imprimo Laboratorio y  cantidad.” 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dic   keysDo:[ :cla|  Transcript show: ‘Laboratorio: ', cla, ‘Cantidad de remedios:’ , (dic at:cla) displayString. Transcript cr].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2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Diccionario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" name="Google Shape;235;p26"/>
          <p:cNvGrpSpPr/>
          <p:nvPr/>
        </p:nvGrpSpPr>
        <p:grpSpPr>
          <a:xfrm>
            <a:off x="772560" y="726480"/>
            <a:ext cx="6577920" cy="3438000"/>
            <a:chOff x="772560" y="726480"/>
            <a:chExt cx="6577920" cy="3438000"/>
          </a:xfrm>
        </p:grpSpPr>
        <p:sp>
          <p:nvSpPr>
            <p:cNvPr id="182" name="Google Shape;236;p26"/>
            <p:cNvSpPr/>
            <p:nvPr/>
          </p:nvSpPr>
          <p:spPr>
            <a:xfrm>
              <a:off x="772560" y="726480"/>
              <a:ext cx="6577920" cy="34380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83" name="Google Shape;237;p26"/>
            <p:cNvSpPr/>
            <p:nvPr/>
          </p:nvSpPr>
          <p:spPr>
            <a:xfrm>
              <a:off x="772560" y="726480"/>
              <a:ext cx="65779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84" name="Google Shape;238;p26"/>
          <p:cNvGrpSpPr/>
          <p:nvPr/>
        </p:nvGrpSpPr>
        <p:grpSpPr>
          <a:xfrm>
            <a:off x="3993480" y="3441600"/>
            <a:ext cx="2119320" cy="1127160"/>
            <a:chOff x="3993480" y="3441600"/>
            <a:chExt cx="2119320" cy="1127160"/>
          </a:xfrm>
        </p:grpSpPr>
        <p:sp>
          <p:nvSpPr>
            <p:cNvPr id="185" name="Google Shape;239;p26"/>
            <p:cNvSpPr/>
            <p:nvPr/>
          </p:nvSpPr>
          <p:spPr>
            <a:xfrm>
              <a:off x="3993480" y="3441600"/>
              <a:ext cx="2119320" cy="112716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86" name="Google Shape;240;p26"/>
            <p:cNvSpPr/>
            <p:nvPr/>
          </p:nvSpPr>
          <p:spPr>
            <a:xfrm>
              <a:off x="3993480" y="3441600"/>
              <a:ext cx="21193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187" name="Google Shape;241;p26"/>
          <p:cNvGrpSpPr/>
          <p:nvPr/>
        </p:nvGrpSpPr>
        <p:grpSpPr>
          <a:xfrm>
            <a:off x="5422320" y="1302480"/>
            <a:ext cx="2560320" cy="1952640"/>
            <a:chOff x="5422320" y="1302480"/>
            <a:chExt cx="2560320" cy="1952640"/>
          </a:xfrm>
        </p:grpSpPr>
        <p:sp>
          <p:nvSpPr>
            <p:cNvPr id="188" name="Google Shape;242;p26"/>
            <p:cNvSpPr/>
            <p:nvPr/>
          </p:nvSpPr>
          <p:spPr>
            <a:xfrm>
              <a:off x="5422320" y="1302480"/>
              <a:ext cx="2560320" cy="195264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189" name="Google Shape;243;p26"/>
            <p:cNvSpPr/>
            <p:nvPr/>
          </p:nvSpPr>
          <p:spPr>
            <a:xfrm>
              <a:off x="5422320" y="1302480"/>
              <a:ext cx="25603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1186920" y="1906560"/>
            <a:ext cx="4088520" cy="11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6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Herencia</a:t>
            </a:r>
            <a:endParaRPr b="0" lang="es-AR" sz="4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Google Shape;245;p26"/>
          <p:cNvSpPr/>
          <p:nvPr/>
        </p:nvSpPr>
        <p:spPr>
          <a:xfrm>
            <a:off x="842040" y="1094400"/>
            <a:ext cx="10771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3"/>
                </a:solidFill>
                <a:uFillTx/>
                <a:latin typeface="Quantico"/>
                <a:ea typeface="Quantico"/>
              </a:rPr>
              <a:t>&lt;/&gt;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2" name="Google Shape;246;p26"/>
          <p:cNvSpPr/>
          <p:nvPr/>
        </p:nvSpPr>
        <p:spPr>
          <a:xfrm>
            <a:off x="4444920" y="3760920"/>
            <a:ext cx="1216440" cy="7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}</a:t>
            </a:r>
            <a:r>
              <a:rPr b="0" lang="en" sz="3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/&gt; </a:t>
            </a:r>
            <a:r>
              <a:rPr b="0" lang="en" sz="3600" strike="noStrike" u="none">
                <a:solidFill>
                  <a:schemeClr val="accent1"/>
                </a:solidFill>
                <a:uFillTx/>
                <a:latin typeface="Arial"/>
                <a:ea typeface="Arial"/>
              </a:rPr>
              <a:t>[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93" name="Google Shape;247;p26" descr=""/>
          <p:cNvPicPr/>
          <p:nvPr/>
        </p:nvPicPr>
        <p:blipFill>
          <a:blip r:embed="rId1"/>
          <a:stretch/>
        </p:blipFill>
        <p:spPr>
          <a:xfrm rot="5400000">
            <a:off x="6059520" y="1663200"/>
            <a:ext cx="1472760" cy="1472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252;p27"/>
          <p:cNvSpPr/>
          <p:nvPr/>
        </p:nvSpPr>
        <p:spPr>
          <a:xfrm>
            <a:off x="720000" y="913680"/>
            <a:ext cx="7703640" cy="38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En POO, la Herencia nos permite tener una jerarquía de objetos que puede tener varios niveles. Esta puede estar compuesta de clases abstractas (no pueden tener instancias) y clases concretas.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En la herencia llamamos </a:t>
            </a:r>
            <a:r>
              <a:rPr b="1" lang="en" sz="20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superclase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 o </a:t>
            </a:r>
            <a:r>
              <a:rPr b="1" i="1" lang="en" sz="20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clase padre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 a aquella que generaliza a las subclases agrupando comportamiento común de las mismas, y llamamos subclase a aquellas que </a:t>
            </a:r>
            <a:r>
              <a:rPr b="1" i="1" lang="en" sz="20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especializan/especifican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 conceptos definidos de una superclase.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Herencia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258;p28"/>
          <p:cNvSpPr/>
          <p:nvPr/>
        </p:nvSpPr>
        <p:spPr>
          <a:xfrm>
            <a:off x="720000" y="913680"/>
            <a:ext cx="7703640" cy="38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Hay </a:t>
            </a:r>
            <a:r>
              <a:rPr b="1" i="1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dos tipos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 de herencia: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1" i="1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Estructural</a:t>
            </a:r>
            <a:r>
              <a:rPr b="0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: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 en Smalltalk es total, las subclases heredan TODOS los atributos de la superclase. No hay forma de omitir alguno.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1" i="1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Comportamiento</a:t>
            </a:r>
            <a:r>
              <a:rPr b="0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: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 es parcial, se puede no heredar un método de una superclase, redefiniéndolo en la subclase.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Herencia: tipos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264;p29"/>
          <p:cNvGrpSpPr/>
          <p:nvPr/>
        </p:nvGrpSpPr>
        <p:grpSpPr>
          <a:xfrm>
            <a:off x="772560" y="726480"/>
            <a:ext cx="6577920" cy="3438000"/>
            <a:chOff x="772560" y="726480"/>
            <a:chExt cx="6577920" cy="3438000"/>
          </a:xfrm>
        </p:grpSpPr>
        <p:sp>
          <p:nvSpPr>
            <p:cNvPr id="199" name="Google Shape;265;p29"/>
            <p:cNvSpPr/>
            <p:nvPr/>
          </p:nvSpPr>
          <p:spPr>
            <a:xfrm>
              <a:off x="772560" y="726480"/>
              <a:ext cx="6577920" cy="34380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00" name="Google Shape;266;p29"/>
            <p:cNvSpPr/>
            <p:nvPr/>
          </p:nvSpPr>
          <p:spPr>
            <a:xfrm>
              <a:off x="772560" y="726480"/>
              <a:ext cx="65779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201" name="Google Shape;267;p29"/>
          <p:cNvGrpSpPr/>
          <p:nvPr/>
        </p:nvGrpSpPr>
        <p:grpSpPr>
          <a:xfrm>
            <a:off x="3993480" y="3441600"/>
            <a:ext cx="2119320" cy="1127160"/>
            <a:chOff x="3993480" y="3441600"/>
            <a:chExt cx="2119320" cy="1127160"/>
          </a:xfrm>
        </p:grpSpPr>
        <p:sp>
          <p:nvSpPr>
            <p:cNvPr id="202" name="Google Shape;268;p29"/>
            <p:cNvSpPr/>
            <p:nvPr/>
          </p:nvSpPr>
          <p:spPr>
            <a:xfrm>
              <a:off x="3993480" y="3441600"/>
              <a:ext cx="2119320" cy="112716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03" name="Google Shape;269;p29"/>
            <p:cNvSpPr/>
            <p:nvPr/>
          </p:nvSpPr>
          <p:spPr>
            <a:xfrm>
              <a:off x="3993480" y="3441600"/>
              <a:ext cx="21193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204" name="Google Shape;270;p29"/>
          <p:cNvGrpSpPr/>
          <p:nvPr/>
        </p:nvGrpSpPr>
        <p:grpSpPr>
          <a:xfrm>
            <a:off x="5422320" y="1302480"/>
            <a:ext cx="2560320" cy="1952640"/>
            <a:chOff x="5422320" y="1302480"/>
            <a:chExt cx="2560320" cy="1952640"/>
          </a:xfrm>
        </p:grpSpPr>
        <p:sp>
          <p:nvSpPr>
            <p:cNvPr id="205" name="Google Shape;271;p29"/>
            <p:cNvSpPr/>
            <p:nvPr/>
          </p:nvSpPr>
          <p:spPr>
            <a:xfrm>
              <a:off x="5422320" y="1302480"/>
              <a:ext cx="2560320" cy="195264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06" name="Google Shape;272;p29"/>
            <p:cNvSpPr/>
            <p:nvPr/>
          </p:nvSpPr>
          <p:spPr>
            <a:xfrm>
              <a:off x="5422320" y="1302480"/>
              <a:ext cx="25603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1186920" y="1906560"/>
            <a:ext cx="4088520" cy="11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6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Self y Super</a:t>
            </a:r>
            <a:endParaRPr b="0" lang="es-AR" sz="4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8" name="Google Shape;274;p29"/>
          <p:cNvSpPr/>
          <p:nvPr/>
        </p:nvSpPr>
        <p:spPr>
          <a:xfrm>
            <a:off x="842040" y="1094400"/>
            <a:ext cx="10771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2"/>
                </a:solidFill>
                <a:uFillTx/>
                <a:latin typeface="Quantico"/>
                <a:ea typeface="Quantico"/>
              </a:rPr>
              <a:t>&lt;/&gt;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9" name="Google Shape;275;p29"/>
          <p:cNvSpPr/>
          <p:nvPr/>
        </p:nvSpPr>
        <p:spPr>
          <a:xfrm>
            <a:off x="4444920" y="3760920"/>
            <a:ext cx="1216440" cy="7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}</a:t>
            </a:r>
            <a:r>
              <a:rPr b="0" lang="en" sz="3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/&gt; </a:t>
            </a:r>
            <a:r>
              <a:rPr b="0" lang="en" sz="3600" strike="noStrike" u="none">
                <a:solidFill>
                  <a:schemeClr val="accent1"/>
                </a:solidFill>
                <a:uFillTx/>
                <a:latin typeface="Arial"/>
                <a:ea typeface="Arial"/>
              </a:rPr>
              <a:t>[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210" name="Google Shape;276;p29"/>
          <p:cNvGrpSpPr/>
          <p:nvPr/>
        </p:nvGrpSpPr>
        <p:grpSpPr>
          <a:xfrm>
            <a:off x="5717520" y="1745640"/>
            <a:ext cx="2032560" cy="1241640"/>
            <a:chOff x="5717520" y="1745640"/>
            <a:chExt cx="2032560" cy="1241640"/>
          </a:xfrm>
        </p:grpSpPr>
        <p:sp>
          <p:nvSpPr>
            <p:cNvPr id="211" name="Google Shape;277;p29"/>
            <p:cNvSpPr/>
            <p:nvPr/>
          </p:nvSpPr>
          <p:spPr>
            <a:xfrm>
              <a:off x="5717520" y="1745640"/>
              <a:ext cx="2032560" cy="1241640"/>
            </a:xfrm>
            <a:custGeom>
              <a:avLst/>
              <a:gdLst>
                <a:gd name="textAreaLeft" fmla="*/ 0 w 2032560"/>
                <a:gd name="textAreaRight" fmla="*/ 2032920 w 2032560"/>
                <a:gd name="textAreaTop" fmla="*/ 0 h 1241640"/>
                <a:gd name="textAreaBottom" fmla="*/ 1242000 h 1241640"/>
              </a:gdLst>
              <a:ahLst/>
              <a:rect l="textAreaLeft" t="textAreaTop" r="textAreaRight" b="textAreaBottom"/>
              <a:pathLst>
                <a:path w="16492" h="10074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2" name="Google Shape;278;p29"/>
            <p:cNvSpPr/>
            <p:nvPr/>
          </p:nvSpPr>
          <p:spPr>
            <a:xfrm>
              <a:off x="6106680" y="1989360"/>
              <a:ext cx="239040" cy="161280"/>
            </a:xfrm>
            <a:custGeom>
              <a:avLst/>
              <a:gdLst>
                <a:gd name="textAreaLeft" fmla="*/ 0 w 239040"/>
                <a:gd name="textAreaRight" fmla="*/ 239400 w 239040"/>
                <a:gd name="textAreaTop" fmla="*/ 0 h 161280"/>
                <a:gd name="textAreaBottom" fmla="*/ 161640 h 161280"/>
              </a:gdLst>
              <a:ahLst/>
              <a:rect l="textAreaLeft" t="textAreaTop" r="textAreaRight" b="textAreaBottom"/>
              <a:pathLst>
                <a:path w="1941" h="1310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640" bIns="80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3" name="Google Shape;279;p29"/>
            <p:cNvSpPr/>
            <p:nvPr/>
          </p:nvSpPr>
          <p:spPr>
            <a:xfrm>
              <a:off x="6108120" y="2184480"/>
              <a:ext cx="374040" cy="58320"/>
            </a:xfrm>
            <a:custGeom>
              <a:avLst/>
              <a:gdLst>
                <a:gd name="textAreaLeft" fmla="*/ 0 w 374040"/>
                <a:gd name="textAreaRight" fmla="*/ 374400 w 374040"/>
                <a:gd name="textAreaTop" fmla="*/ 0 h 58320"/>
                <a:gd name="textAreaBottom" fmla="*/ 58680 h 58320"/>
              </a:gdLst>
              <a:ahLst/>
              <a:rect l="textAreaLeft" t="textAreaTop" r="textAreaRight" b="textAreaBottom"/>
              <a:pathLst>
                <a:path w="3038" h="477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4" name="Google Shape;280;p29"/>
            <p:cNvSpPr/>
            <p:nvPr/>
          </p:nvSpPr>
          <p:spPr>
            <a:xfrm>
              <a:off x="6246000" y="2268360"/>
              <a:ext cx="236160" cy="161280"/>
            </a:xfrm>
            <a:custGeom>
              <a:avLst/>
              <a:gdLst>
                <a:gd name="textAreaLeft" fmla="*/ 0 w 236160"/>
                <a:gd name="textAreaRight" fmla="*/ 236520 w 236160"/>
                <a:gd name="textAreaTop" fmla="*/ 0 h 161280"/>
                <a:gd name="textAreaBottom" fmla="*/ 161640 h 161280"/>
              </a:gdLst>
              <a:ahLst/>
              <a:rect l="textAreaLeft" t="textAreaTop" r="textAreaRight" b="textAreaBottom"/>
              <a:pathLst>
                <a:path w="1918" h="1311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640" bIns="80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5" name="Google Shape;281;p29"/>
            <p:cNvSpPr/>
            <p:nvPr/>
          </p:nvSpPr>
          <p:spPr>
            <a:xfrm>
              <a:off x="6108120" y="2460600"/>
              <a:ext cx="374040" cy="58320"/>
            </a:xfrm>
            <a:custGeom>
              <a:avLst/>
              <a:gdLst>
                <a:gd name="textAreaLeft" fmla="*/ 0 w 374040"/>
                <a:gd name="textAreaRight" fmla="*/ 374400 w 374040"/>
                <a:gd name="textAreaTop" fmla="*/ 0 h 58320"/>
                <a:gd name="textAreaBottom" fmla="*/ 58680 h 58320"/>
              </a:gdLst>
              <a:ahLst/>
              <a:rect l="textAreaLeft" t="textAreaTop" r="textAreaRight" b="textAreaBottom"/>
              <a:pathLst>
                <a:path w="3038" h="477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6" name="Google Shape;282;p29"/>
            <p:cNvSpPr/>
            <p:nvPr/>
          </p:nvSpPr>
          <p:spPr>
            <a:xfrm>
              <a:off x="6698160" y="2112480"/>
              <a:ext cx="187560" cy="311040"/>
            </a:xfrm>
            <a:custGeom>
              <a:avLst/>
              <a:gdLst>
                <a:gd name="textAreaLeft" fmla="*/ 0 w 187560"/>
                <a:gd name="textAreaRight" fmla="*/ 187920 w 187560"/>
                <a:gd name="textAreaTop" fmla="*/ 0 h 311040"/>
                <a:gd name="textAreaBottom" fmla="*/ 311400 h 311040"/>
              </a:gdLst>
              <a:ahLst/>
              <a:rect l="textAreaLeft" t="textAreaTop" r="textAreaRight" b="textAreaBottom"/>
              <a:pathLst>
                <a:path w="1525" h="2525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7" name="Google Shape;283;p29"/>
            <p:cNvSpPr/>
            <p:nvPr/>
          </p:nvSpPr>
          <p:spPr>
            <a:xfrm>
              <a:off x="7154640" y="2111040"/>
              <a:ext cx="189000" cy="311040"/>
            </a:xfrm>
            <a:custGeom>
              <a:avLst/>
              <a:gdLst>
                <a:gd name="textAreaLeft" fmla="*/ 0 w 189000"/>
                <a:gd name="textAreaRight" fmla="*/ 189360 w 189000"/>
                <a:gd name="textAreaTop" fmla="*/ 0 h 311040"/>
                <a:gd name="textAreaBottom" fmla="*/ 311400 h 311040"/>
              </a:gdLst>
              <a:ahLst/>
              <a:rect l="textAreaLeft" t="textAreaTop" r="textAreaRight" b="textAreaBottom"/>
              <a:pathLst>
                <a:path w="1536" h="2525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8" name="Google Shape;284;p29"/>
            <p:cNvSpPr/>
            <p:nvPr/>
          </p:nvSpPr>
          <p:spPr>
            <a:xfrm>
              <a:off x="6927120" y="2073960"/>
              <a:ext cx="189000" cy="386280"/>
            </a:xfrm>
            <a:custGeom>
              <a:avLst/>
              <a:gdLst>
                <a:gd name="textAreaLeft" fmla="*/ 0 w 189000"/>
                <a:gd name="textAreaRight" fmla="*/ 189360 w 189000"/>
                <a:gd name="textAreaTop" fmla="*/ 0 h 386280"/>
                <a:gd name="textAreaBottom" fmla="*/ 386640 h 386280"/>
              </a:gdLst>
              <a:ahLst/>
              <a:rect l="textAreaLeft" t="textAreaTop" r="textAreaRight" b="textAreaBottom"/>
              <a:pathLst>
                <a:path w="1537" h="3137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89;p30"/>
          <p:cNvSpPr/>
          <p:nvPr/>
        </p:nvSpPr>
        <p:spPr>
          <a:xfrm>
            <a:off x="720000" y="1218600"/>
            <a:ext cx="7703640" cy="244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Para programar usando herencia se utilizan las pseudo variables self y super: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 algn="just">
              <a:lnSpc>
                <a:spcPct val="115000"/>
              </a:lnSpc>
              <a:buClr>
                <a:srgbClr val="ffffff"/>
              </a:buClr>
              <a:buFont typeface="Quantico"/>
              <a:buChar char="●"/>
              <a:tabLst>
                <a:tab algn="l" pos="0"/>
              </a:tabLst>
            </a:pPr>
            <a:r>
              <a:rPr b="1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self</a:t>
            </a:r>
            <a:r>
              <a:rPr b="0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: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 hace referencia al objeto receptor del mensaje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355680" algn="just">
              <a:lnSpc>
                <a:spcPct val="115000"/>
              </a:lnSpc>
              <a:buClr>
                <a:srgbClr val="ffffff"/>
              </a:buClr>
              <a:buFont typeface="Quantico"/>
              <a:buChar char="●"/>
              <a:tabLst>
                <a:tab algn="l" pos="0"/>
              </a:tabLst>
            </a:pPr>
            <a:r>
              <a:rPr b="0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super: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 hace referencia a la superclase inmediata de la clase que contiene el método en el cual aparece dicha pseudovariable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3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Herencia: self y super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95;p31"/>
          <p:cNvSpPr/>
          <p:nvPr/>
        </p:nvSpPr>
        <p:spPr>
          <a:xfrm>
            <a:off x="720000" y="837360"/>
            <a:ext cx="7703640" cy="5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Suponiendo la Jerarquía de clase A &gt; B &gt; C, y que cada una responde a los siguientes métodos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Herencia: self y super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23" name="Google Shape;297;p31"/>
          <p:cNvGraphicFramePr/>
          <p:nvPr/>
        </p:nvGraphicFramePr>
        <p:xfrm>
          <a:off x="839160" y="1608480"/>
          <a:ext cx="6635520" cy="2000160"/>
        </p:xfrm>
        <a:graphic>
          <a:graphicData uri="http://schemas.openxmlformats.org/drawingml/2006/table">
            <a:tbl>
              <a:tblPr/>
              <a:tblGrid>
                <a:gridCol w="2059560"/>
                <a:gridCol w="2173320"/>
                <a:gridCol w="2402640"/>
              </a:tblGrid>
              <a:tr h="222120">
                <a:tc>
                  <a:txBody>
                    <a:bodyPr lIns="37800" rIns="3780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A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B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C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  <a:tr h="444240"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m1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^3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m1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^6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m1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^self m4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  <a:tr h="444240"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m2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^5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m4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^self m2 + super m3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m2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^9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  <a:tr h="444240"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m3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^self m6 + self m2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m3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 4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m7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^super m6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  <a:tr h="444240">
                <a:tc>
                  <a:txBody>
                    <a:bodyPr lIns="37800" rIns="3780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 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m6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^self m2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 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</a:tbl>
          </a:graphicData>
        </a:graphic>
      </p:graphicFrame>
      <p:sp>
        <p:nvSpPr>
          <p:cNvPr id="224" name="Google Shape;298;p31"/>
          <p:cNvSpPr/>
          <p:nvPr/>
        </p:nvSpPr>
        <p:spPr>
          <a:xfrm>
            <a:off x="839160" y="4122360"/>
            <a:ext cx="4438080" cy="53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Evaluar las siguientes expresiones: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5" name="Google Shape;299;p31"/>
          <p:cNvSpPr/>
          <p:nvPr/>
        </p:nvSpPr>
        <p:spPr>
          <a:xfrm>
            <a:off x="5508360" y="3588840"/>
            <a:ext cx="2999520" cy="15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| unObjeto |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unObjeto := C new.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a) unObjeto m7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b) unObjeto m1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Herencia: self y super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27" name="Google Shape;305;p32"/>
          <p:cNvGraphicFramePr/>
          <p:nvPr/>
        </p:nvGraphicFramePr>
        <p:xfrm>
          <a:off x="3555720" y="1337400"/>
          <a:ext cx="5214240" cy="2271240"/>
        </p:xfrm>
        <a:graphic>
          <a:graphicData uri="http://schemas.openxmlformats.org/drawingml/2006/table">
            <a:tbl>
              <a:tblPr/>
              <a:tblGrid>
                <a:gridCol w="1618560"/>
                <a:gridCol w="1707840"/>
                <a:gridCol w="1887840"/>
              </a:tblGrid>
              <a:tr h="252360">
                <a:tc>
                  <a:txBody>
                    <a:bodyPr lIns="37800" rIns="3780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A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B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C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  <a:tr h="504720"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m1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^3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m1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^6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m1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^self m4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  <a:tr h="504720"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m2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^5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m4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^self m2 + super m3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m2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^9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  <a:tr h="504720"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m3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^self m6 + self m2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m3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 4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m7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^super m6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  <a:tr h="504720">
                <a:tc>
                  <a:txBody>
                    <a:bodyPr lIns="37800" rIns="3780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 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m6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^self m2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 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306;p32"/>
          <p:cNvSpPr/>
          <p:nvPr/>
        </p:nvSpPr>
        <p:spPr>
          <a:xfrm>
            <a:off x="839160" y="1503360"/>
            <a:ext cx="2999520" cy="193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unObjeto := C new.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a) unObjeto m7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unObjeto </a:t>
            </a:r>
            <a:r>
              <a:rPr b="0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Super m6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unObjeto </a:t>
            </a:r>
            <a:r>
              <a:rPr b="0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Self m2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Resultado: 9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2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Herencia: self y super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230" name="Google Shape;312;p33"/>
          <p:cNvGraphicFramePr/>
          <p:nvPr/>
        </p:nvGraphicFramePr>
        <p:xfrm>
          <a:off x="109800" y="1369080"/>
          <a:ext cx="5214240" cy="2271240"/>
        </p:xfrm>
        <a:graphic>
          <a:graphicData uri="http://schemas.openxmlformats.org/drawingml/2006/table">
            <a:tbl>
              <a:tblPr/>
              <a:tblGrid>
                <a:gridCol w="1618560"/>
                <a:gridCol w="1707840"/>
                <a:gridCol w="1887840"/>
              </a:tblGrid>
              <a:tr h="252360">
                <a:tc>
                  <a:txBody>
                    <a:bodyPr lIns="37800" rIns="3780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A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B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C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  <a:tr h="504720"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m1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^3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m1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^6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m1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^self m4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  <a:tr h="504720"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m2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^5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m4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^self m2 + super m3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m2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^9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  <a:tr h="504720"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m3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^self m6 + self m2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m3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 4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m7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^super m6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  <a:tr h="504720">
                <a:tc>
                  <a:txBody>
                    <a:bodyPr lIns="37800" rIns="3780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 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m6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  <a:p>
                      <a:pPr marL="457200" algn="just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^self m2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  <a:tc>
                  <a:txBody>
                    <a:bodyPr lIns="37800" rIns="3780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trike="noStrike" u="none">
                          <a:solidFill>
                            <a:srgbClr val="1b212c"/>
                          </a:solidFill>
                          <a:uFillTx/>
                          <a:latin typeface="Arial"/>
                          <a:ea typeface="Arial"/>
                        </a:rPr>
                        <a:t> </a:t>
                      </a:r>
                      <a:endParaRPr b="0" lang="es-AR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t" marL="37800" marR="3780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7f7f6"/>
                    </a:solidFill>
                  </a:tcPr>
                </a:tc>
              </a:tr>
            </a:tbl>
          </a:graphicData>
        </a:graphic>
      </p:graphicFrame>
      <p:sp>
        <p:nvSpPr>
          <p:cNvPr id="231" name="Google Shape;313;p33"/>
          <p:cNvSpPr/>
          <p:nvPr/>
        </p:nvSpPr>
        <p:spPr>
          <a:xfrm>
            <a:off x="5449320" y="1196640"/>
            <a:ext cx="4135680" cy="26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b) unObjeto m1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unObjeto </a:t>
            </a:r>
            <a:r>
              <a:rPr b="0" lang="en" sz="20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Self m4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unObjeto </a:t>
            </a:r>
            <a:r>
              <a:rPr b="0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Self m2 </a:t>
            </a:r>
            <a:r>
              <a:rPr b="0" lang="en" sz="20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+ Super m3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accent1"/>
                </a:solidFill>
                <a:uFillTx/>
                <a:latin typeface="Quantico"/>
                <a:ea typeface="Quantico"/>
              </a:rPr>
              <a:t>9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 + </a:t>
            </a:r>
            <a:r>
              <a:rPr b="0" lang="en" sz="20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(Self m6 + self m2)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9 + </a:t>
            </a:r>
            <a:r>
              <a:rPr b="0" lang="en" sz="20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(Self m2 + 9)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9 + </a:t>
            </a:r>
            <a:r>
              <a:rPr b="0" lang="en" sz="20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9 + 9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Resultado: 27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318;p34"/>
          <p:cNvGrpSpPr/>
          <p:nvPr/>
        </p:nvGrpSpPr>
        <p:grpSpPr>
          <a:xfrm>
            <a:off x="772560" y="726480"/>
            <a:ext cx="6577920" cy="3438000"/>
            <a:chOff x="772560" y="726480"/>
            <a:chExt cx="6577920" cy="3438000"/>
          </a:xfrm>
        </p:grpSpPr>
        <p:sp>
          <p:nvSpPr>
            <p:cNvPr id="233" name="Google Shape;319;p34"/>
            <p:cNvSpPr/>
            <p:nvPr/>
          </p:nvSpPr>
          <p:spPr>
            <a:xfrm>
              <a:off x="772560" y="726480"/>
              <a:ext cx="6577920" cy="34380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34" name="Google Shape;320;p34"/>
            <p:cNvSpPr/>
            <p:nvPr/>
          </p:nvSpPr>
          <p:spPr>
            <a:xfrm>
              <a:off x="772560" y="726480"/>
              <a:ext cx="65779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235" name="Google Shape;321;p34"/>
          <p:cNvGrpSpPr/>
          <p:nvPr/>
        </p:nvGrpSpPr>
        <p:grpSpPr>
          <a:xfrm>
            <a:off x="3993480" y="3441600"/>
            <a:ext cx="2119320" cy="1127160"/>
            <a:chOff x="3993480" y="3441600"/>
            <a:chExt cx="2119320" cy="1127160"/>
          </a:xfrm>
        </p:grpSpPr>
        <p:sp>
          <p:nvSpPr>
            <p:cNvPr id="236" name="Google Shape;322;p34"/>
            <p:cNvSpPr/>
            <p:nvPr/>
          </p:nvSpPr>
          <p:spPr>
            <a:xfrm>
              <a:off x="3993480" y="3441600"/>
              <a:ext cx="2119320" cy="112716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37" name="Google Shape;323;p34"/>
            <p:cNvSpPr/>
            <p:nvPr/>
          </p:nvSpPr>
          <p:spPr>
            <a:xfrm>
              <a:off x="3993480" y="3441600"/>
              <a:ext cx="21193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grpSp>
        <p:nvGrpSpPr>
          <p:cNvPr id="238" name="Google Shape;324;p34"/>
          <p:cNvGrpSpPr/>
          <p:nvPr/>
        </p:nvGrpSpPr>
        <p:grpSpPr>
          <a:xfrm>
            <a:off x="5422320" y="1302480"/>
            <a:ext cx="2560320" cy="1952640"/>
            <a:chOff x="5422320" y="1302480"/>
            <a:chExt cx="2560320" cy="1952640"/>
          </a:xfrm>
        </p:grpSpPr>
        <p:sp>
          <p:nvSpPr>
            <p:cNvPr id="239" name="Google Shape;325;p34"/>
            <p:cNvSpPr/>
            <p:nvPr/>
          </p:nvSpPr>
          <p:spPr>
            <a:xfrm>
              <a:off x="5422320" y="1302480"/>
              <a:ext cx="2560320" cy="195264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40" name="Google Shape;326;p34"/>
            <p:cNvSpPr/>
            <p:nvPr/>
          </p:nvSpPr>
          <p:spPr>
            <a:xfrm>
              <a:off x="5422320" y="1302480"/>
              <a:ext cx="2560320" cy="25488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1186920" y="1906560"/>
            <a:ext cx="4088520" cy="111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just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6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Ejercicio Herencia</a:t>
            </a:r>
            <a:endParaRPr b="0" lang="es-AR" sz="4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2" name="Google Shape;328;p34"/>
          <p:cNvSpPr/>
          <p:nvPr/>
        </p:nvSpPr>
        <p:spPr>
          <a:xfrm>
            <a:off x="842040" y="1094400"/>
            <a:ext cx="1077120" cy="56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lt2"/>
                </a:solidFill>
                <a:uFillTx/>
                <a:latin typeface="Quantico"/>
                <a:ea typeface="Quantico"/>
              </a:rPr>
              <a:t>&lt;/&gt;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3" name="Google Shape;329;p34"/>
          <p:cNvSpPr/>
          <p:nvPr/>
        </p:nvSpPr>
        <p:spPr>
          <a:xfrm>
            <a:off x="4444920" y="3760920"/>
            <a:ext cx="1216440" cy="74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0" lang="en" sz="3600" strike="noStrike" u="none">
                <a:solidFill>
                  <a:schemeClr val="accent2"/>
                </a:solidFill>
                <a:uFillTx/>
                <a:latin typeface="Arial"/>
                <a:ea typeface="Arial"/>
              </a:rPr>
              <a:t>}</a:t>
            </a:r>
            <a:r>
              <a:rPr b="0" lang="en" sz="36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 /&gt; </a:t>
            </a:r>
            <a:r>
              <a:rPr b="0" lang="en" sz="3600" strike="noStrike" u="none">
                <a:solidFill>
                  <a:schemeClr val="accent1"/>
                </a:solidFill>
                <a:uFillTx/>
                <a:latin typeface="Arial"/>
                <a:ea typeface="Arial"/>
              </a:rPr>
              <a:t>[</a:t>
            </a:r>
            <a:endParaRPr b="0" lang="es-AR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pSp>
        <p:nvGrpSpPr>
          <p:cNvPr id="244" name="Google Shape;330;p34"/>
          <p:cNvGrpSpPr/>
          <p:nvPr/>
        </p:nvGrpSpPr>
        <p:grpSpPr>
          <a:xfrm>
            <a:off x="5717520" y="1745640"/>
            <a:ext cx="2032560" cy="1241640"/>
            <a:chOff x="5717520" y="1745640"/>
            <a:chExt cx="2032560" cy="1241640"/>
          </a:xfrm>
        </p:grpSpPr>
        <p:sp>
          <p:nvSpPr>
            <p:cNvPr id="245" name="Google Shape;331;p34"/>
            <p:cNvSpPr/>
            <p:nvPr/>
          </p:nvSpPr>
          <p:spPr>
            <a:xfrm>
              <a:off x="5717520" y="1745640"/>
              <a:ext cx="2032560" cy="1241640"/>
            </a:xfrm>
            <a:custGeom>
              <a:avLst/>
              <a:gdLst>
                <a:gd name="textAreaLeft" fmla="*/ 0 w 2032560"/>
                <a:gd name="textAreaRight" fmla="*/ 2032920 w 2032560"/>
                <a:gd name="textAreaTop" fmla="*/ 0 h 1241640"/>
                <a:gd name="textAreaBottom" fmla="*/ 1242000 h 1241640"/>
              </a:gdLst>
              <a:ahLst/>
              <a:rect l="textAreaLeft" t="textAreaTop" r="textAreaRight" b="textAreaBottom"/>
              <a:pathLst>
                <a:path w="16492" h="10074">
                  <a:moveTo>
                    <a:pt x="13979" y="1227"/>
                  </a:moveTo>
                  <a:lnTo>
                    <a:pt x="13979" y="6764"/>
                  </a:lnTo>
                  <a:lnTo>
                    <a:pt x="11348" y="6764"/>
                  </a:lnTo>
                  <a:cubicBezTo>
                    <a:pt x="11205" y="6764"/>
                    <a:pt x="11109" y="6871"/>
                    <a:pt x="11109" y="7002"/>
                  </a:cubicBezTo>
                  <a:cubicBezTo>
                    <a:pt x="11109" y="7145"/>
                    <a:pt x="11205" y="7240"/>
                    <a:pt x="11348" y="7240"/>
                  </a:cubicBezTo>
                  <a:lnTo>
                    <a:pt x="13979" y="7240"/>
                  </a:lnTo>
                  <a:lnTo>
                    <a:pt x="13979" y="7514"/>
                  </a:lnTo>
                  <a:lnTo>
                    <a:pt x="2537" y="7514"/>
                  </a:lnTo>
                  <a:lnTo>
                    <a:pt x="2537" y="7240"/>
                  </a:lnTo>
                  <a:lnTo>
                    <a:pt x="10336" y="7240"/>
                  </a:lnTo>
                  <a:cubicBezTo>
                    <a:pt x="10466" y="7240"/>
                    <a:pt x="10574" y="7145"/>
                    <a:pt x="10574" y="7002"/>
                  </a:cubicBezTo>
                  <a:cubicBezTo>
                    <a:pt x="10574" y="6871"/>
                    <a:pt x="10466" y="6764"/>
                    <a:pt x="10336" y="6764"/>
                  </a:cubicBezTo>
                  <a:lnTo>
                    <a:pt x="7014" y="6764"/>
                  </a:lnTo>
                  <a:lnTo>
                    <a:pt x="7014" y="1227"/>
                  </a:lnTo>
                  <a:close/>
                  <a:moveTo>
                    <a:pt x="14169" y="7990"/>
                  </a:moveTo>
                  <a:lnTo>
                    <a:pt x="14943" y="8287"/>
                  </a:lnTo>
                  <a:lnTo>
                    <a:pt x="1537" y="8287"/>
                  </a:lnTo>
                  <a:lnTo>
                    <a:pt x="2323" y="7990"/>
                  </a:lnTo>
                  <a:close/>
                  <a:moveTo>
                    <a:pt x="10240" y="8776"/>
                  </a:moveTo>
                  <a:lnTo>
                    <a:pt x="10014" y="9002"/>
                  </a:lnTo>
                  <a:lnTo>
                    <a:pt x="6526" y="9002"/>
                  </a:lnTo>
                  <a:lnTo>
                    <a:pt x="6299" y="8776"/>
                  </a:lnTo>
                  <a:close/>
                  <a:moveTo>
                    <a:pt x="16003" y="8776"/>
                  </a:moveTo>
                  <a:lnTo>
                    <a:pt x="16003" y="8823"/>
                  </a:lnTo>
                  <a:lnTo>
                    <a:pt x="16015" y="8823"/>
                  </a:lnTo>
                  <a:cubicBezTo>
                    <a:pt x="16015" y="9252"/>
                    <a:pt x="15658" y="9609"/>
                    <a:pt x="15229" y="9609"/>
                  </a:cubicBezTo>
                  <a:lnTo>
                    <a:pt x="1287" y="9609"/>
                  </a:lnTo>
                  <a:cubicBezTo>
                    <a:pt x="846" y="9609"/>
                    <a:pt x="489" y="9252"/>
                    <a:pt x="489" y="8823"/>
                  </a:cubicBezTo>
                  <a:lnTo>
                    <a:pt x="489" y="8776"/>
                  </a:lnTo>
                  <a:lnTo>
                    <a:pt x="5633" y="8776"/>
                  </a:lnTo>
                  <a:lnTo>
                    <a:pt x="6252" y="9407"/>
                  </a:lnTo>
                  <a:cubicBezTo>
                    <a:pt x="6299" y="9454"/>
                    <a:pt x="6359" y="9478"/>
                    <a:pt x="6418" y="9478"/>
                  </a:cubicBezTo>
                  <a:lnTo>
                    <a:pt x="10121" y="9478"/>
                  </a:lnTo>
                  <a:cubicBezTo>
                    <a:pt x="10181" y="9478"/>
                    <a:pt x="10240" y="9454"/>
                    <a:pt x="10288" y="9407"/>
                  </a:cubicBezTo>
                  <a:lnTo>
                    <a:pt x="10907" y="8776"/>
                  </a:lnTo>
                  <a:close/>
                  <a:moveTo>
                    <a:pt x="2811" y="1"/>
                  </a:moveTo>
                  <a:cubicBezTo>
                    <a:pt x="2382" y="1"/>
                    <a:pt x="2037" y="346"/>
                    <a:pt x="2037" y="775"/>
                  </a:cubicBezTo>
                  <a:lnTo>
                    <a:pt x="2037" y="3799"/>
                  </a:lnTo>
                  <a:cubicBezTo>
                    <a:pt x="2037" y="3930"/>
                    <a:pt x="2144" y="4037"/>
                    <a:pt x="2275" y="4037"/>
                  </a:cubicBezTo>
                  <a:cubicBezTo>
                    <a:pt x="2418" y="4037"/>
                    <a:pt x="2513" y="3930"/>
                    <a:pt x="2513" y="3799"/>
                  </a:cubicBezTo>
                  <a:lnTo>
                    <a:pt x="2513" y="1215"/>
                  </a:lnTo>
                  <a:lnTo>
                    <a:pt x="6526" y="1215"/>
                  </a:lnTo>
                  <a:lnTo>
                    <a:pt x="6526" y="6752"/>
                  </a:lnTo>
                  <a:lnTo>
                    <a:pt x="2513" y="6752"/>
                  </a:lnTo>
                  <a:lnTo>
                    <a:pt x="2513" y="4763"/>
                  </a:lnTo>
                  <a:cubicBezTo>
                    <a:pt x="2513" y="4632"/>
                    <a:pt x="2418" y="4525"/>
                    <a:pt x="2275" y="4525"/>
                  </a:cubicBezTo>
                  <a:cubicBezTo>
                    <a:pt x="2144" y="4525"/>
                    <a:pt x="2037" y="4632"/>
                    <a:pt x="2037" y="4763"/>
                  </a:cubicBezTo>
                  <a:lnTo>
                    <a:pt x="2037" y="7573"/>
                  </a:lnTo>
                  <a:lnTo>
                    <a:pt x="156" y="8299"/>
                  </a:lnTo>
                  <a:cubicBezTo>
                    <a:pt x="60" y="8335"/>
                    <a:pt x="1" y="8430"/>
                    <a:pt x="1" y="8526"/>
                  </a:cubicBezTo>
                  <a:lnTo>
                    <a:pt x="1" y="8811"/>
                  </a:lnTo>
                  <a:cubicBezTo>
                    <a:pt x="1" y="9502"/>
                    <a:pt x="572" y="10073"/>
                    <a:pt x="1263" y="10073"/>
                  </a:cubicBezTo>
                  <a:lnTo>
                    <a:pt x="15217" y="10073"/>
                  </a:lnTo>
                  <a:cubicBezTo>
                    <a:pt x="15908" y="10073"/>
                    <a:pt x="16479" y="9502"/>
                    <a:pt x="16479" y="8811"/>
                  </a:cubicBezTo>
                  <a:lnTo>
                    <a:pt x="16479" y="8526"/>
                  </a:lnTo>
                  <a:cubicBezTo>
                    <a:pt x="16491" y="8430"/>
                    <a:pt x="16432" y="8347"/>
                    <a:pt x="16348" y="8323"/>
                  </a:cubicBezTo>
                  <a:lnTo>
                    <a:pt x="14467" y="7585"/>
                  </a:lnTo>
                  <a:lnTo>
                    <a:pt x="14467" y="775"/>
                  </a:lnTo>
                  <a:cubicBezTo>
                    <a:pt x="14467" y="346"/>
                    <a:pt x="14122" y="1"/>
                    <a:pt x="13693" y="1"/>
                  </a:cubicBezTo>
                  <a:lnTo>
                    <a:pt x="11550" y="1"/>
                  </a:lnTo>
                  <a:cubicBezTo>
                    <a:pt x="11419" y="1"/>
                    <a:pt x="11312" y="108"/>
                    <a:pt x="11312" y="239"/>
                  </a:cubicBezTo>
                  <a:cubicBezTo>
                    <a:pt x="11312" y="370"/>
                    <a:pt x="11419" y="477"/>
                    <a:pt x="11550" y="477"/>
                  </a:cubicBezTo>
                  <a:lnTo>
                    <a:pt x="13693" y="477"/>
                  </a:lnTo>
                  <a:cubicBezTo>
                    <a:pt x="13848" y="477"/>
                    <a:pt x="13967" y="596"/>
                    <a:pt x="13979" y="739"/>
                  </a:cubicBezTo>
                  <a:lnTo>
                    <a:pt x="2537" y="739"/>
                  </a:lnTo>
                  <a:cubicBezTo>
                    <a:pt x="2549" y="596"/>
                    <a:pt x="2668" y="477"/>
                    <a:pt x="2811" y="477"/>
                  </a:cubicBezTo>
                  <a:lnTo>
                    <a:pt x="10586" y="477"/>
                  </a:lnTo>
                  <a:cubicBezTo>
                    <a:pt x="10717" y="477"/>
                    <a:pt x="10824" y="370"/>
                    <a:pt x="10824" y="239"/>
                  </a:cubicBezTo>
                  <a:cubicBezTo>
                    <a:pt x="10824" y="108"/>
                    <a:pt x="10717" y="1"/>
                    <a:pt x="1058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6" name="Google Shape;332;p34"/>
            <p:cNvSpPr/>
            <p:nvPr/>
          </p:nvSpPr>
          <p:spPr>
            <a:xfrm>
              <a:off x="6106680" y="1989360"/>
              <a:ext cx="239040" cy="161280"/>
            </a:xfrm>
            <a:custGeom>
              <a:avLst/>
              <a:gdLst>
                <a:gd name="textAreaLeft" fmla="*/ 0 w 239040"/>
                <a:gd name="textAreaRight" fmla="*/ 239400 w 239040"/>
                <a:gd name="textAreaTop" fmla="*/ 0 h 161280"/>
                <a:gd name="textAreaBottom" fmla="*/ 161640 h 161280"/>
              </a:gdLst>
              <a:ahLst/>
              <a:rect l="textAreaLeft" t="textAreaTop" r="textAreaRight" b="textAreaBottom"/>
              <a:pathLst>
                <a:path w="1941" h="1310">
                  <a:moveTo>
                    <a:pt x="1441" y="488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8"/>
                  </a:lnTo>
                  <a:close/>
                  <a:moveTo>
                    <a:pt x="238" y="0"/>
                  </a:moveTo>
                  <a:cubicBezTo>
                    <a:pt x="107" y="0"/>
                    <a:pt x="0" y="107"/>
                    <a:pt x="0" y="238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8"/>
                  </a:lnTo>
                  <a:cubicBezTo>
                    <a:pt x="1941" y="119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640" bIns="80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7" name="Google Shape;333;p34"/>
            <p:cNvSpPr/>
            <p:nvPr/>
          </p:nvSpPr>
          <p:spPr>
            <a:xfrm>
              <a:off x="6108120" y="2184480"/>
              <a:ext cx="374040" cy="58320"/>
            </a:xfrm>
            <a:custGeom>
              <a:avLst/>
              <a:gdLst>
                <a:gd name="textAreaLeft" fmla="*/ 0 w 374040"/>
                <a:gd name="textAreaRight" fmla="*/ 374400 w 374040"/>
                <a:gd name="textAreaTop" fmla="*/ 0 h 58320"/>
                <a:gd name="textAreaBottom" fmla="*/ 58680 h 58320"/>
              </a:gdLst>
              <a:ahLst/>
              <a:rect l="textAreaLeft" t="textAreaTop" r="textAreaRight" b="textAreaBottom"/>
              <a:pathLst>
                <a:path w="3038" h="477">
                  <a:moveTo>
                    <a:pt x="239" y="1"/>
                  </a:moveTo>
                  <a:cubicBezTo>
                    <a:pt x="108" y="1"/>
                    <a:pt x="1" y="96"/>
                    <a:pt x="1" y="239"/>
                  </a:cubicBezTo>
                  <a:cubicBezTo>
                    <a:pt x="1" y="370"/>
                    <a:pt x="108" y="477"/>
                    <a:pt x="239" y="477"/>
                  </a:cubicBezTo>
                  <a:lnTo>
                    <a:pt x="2799" y="477"/>
                  </a:lnTo>
                  <a:cubicBezTo>
                    <a:pt x="2942" y="477"/>
                    <a:pt x="3037" y="370"/>
                    <a:pt x="3037" y="239"/>
                  </a:cubicBezTo>
                  <a:cubicBezTo>
                    <a:pt x="3037" y="96"/>
                    <a:pt x="2942" y="1"/>
                    <a:pt x="2799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8" name="Google Shape;334;p34"/>
            <p:cNvSpPr/>
            <p:nvPr/>
          </p:nvSpPr>
          <p:spPr>
            <a:xfrm>
              <a:off x="6246000" y="2268360"/>
              <a:ext cx="236160" cy="161280"/>
            </a:xfrm>
            <a:custGeom>
              <a:avLst/>
              <a:gdLst>
                <a:gd name="textAreaLeft" fmla="*/ 0 w 236160"/>
                <a:gd name="textAreaRight" fmla="*/ 236520 w 236160"/>
                <a:gd name="textAreaTop" fmla="*/ 0 h 161280"/>
                <a:gd name="textAreaBottom" fmla="*/ 161640 h 161280"/>
              </a:gdLst>
              <a:ahLst/>
              <a:rect l="textAreaLeft" t="textAreaTop" r="textAreaRight" b="textAreaBottom"/>
              <a:pathLst>
                <a:path w="1918" h="1311">
                  <a:moveTo>
                    <a:pt x="1441" y="489"/>
                  </a:moveTo>
                  <a:lnTo>
                    <a:pt x="1441" y="834"/>
                  </a:lnTo>
                  <a:lnTo>
                    <a:pt x="488" y="834"/>
                  </a:lnTo>
                  <a:lnTo>
                    <a:pt x="488" y="489"/>
                  </a:lnTo>
                  <a:close/>
                  <a:moveTo>
                    <a:pt x="238" y="0"/>
                  </a:moveTo>
                  <a:cubicBezTo>
                    <a:pt x="107" y="0"/>
                    <a:pt x="0" y="108"/>
                    <a:pt x="0" y="239"/>
                  </a:cubicBezTo>
                  <a:lnTo>
                    <a:pt x="0" y="1072"/>
                  </a:lnTo>
                  <a:cubicBezTo>
                    <a:pt x="0" y="1203"/>
                    <a:pt x="107" y="1310"/>
                    <a:pt x="238" y="1310"/>
                  </a:cubicBezTo>
                  <a:lnTo>
                    <a:pt x="1679" y="1310"/>
                  </a:lnTo>
                  <a:cubicBezTo>
                    <a:pt x="1822" y="1310"/>
                    <a:pt x="1917" y="1203"/>
                    <a:pt x="1917" y="1072"/>
                  </a:cubicBezTo>
                  <a:lnTo>
                    <a:pt x="1917" y="239"/>
                  </a:lnTo>
                  <a:cubicBezTo>
                    <a:pt x="1917" y="108"/>
                    <a:pt x="1822" y="0"/>
                    <a:pt x="167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640" bIns="80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9" name="Google Shape;335;p34"/>
            <p:cNvSpPr/>
            <p:nvPr/>
          </p:nvSpPr>
          <p:spPr>
            <a:xfrm>
              <a:off x="6108120" y="2460600"/>
              <a:ext cx="374040" cy="58320"/>
            </a:xfrm>
            <a:custGeom>
              <a:avLst/>
              <a:gdLst>
                <a:gd name="textAreaLeft" fmla="*/ 0 w 374040"/>
                <a:gd name="textAreaRight" fmla="*/ 374400 w 374040"/>
                <a:gd name="textAreaTop" fmla="*/ 0 h 58320"/>
                <a:gd name="textAreaBottom" fmla="*/ 58680 h 58320"/>
              </a:gdLst>
              <a:ahLst/>
              <a:rect l="textAreaLeft" t="textAreaTop" r="textAreaRight" b="textAreaBottom"/>
              <a:pathLst>
                <a:path w="3038" h="477">
                  <a:moveTo>
                    <a:pt x="239" y="0"/>
                  </a:moveTo>
                  <a:cubicBezTo>
                    <a:pt x="108" y="0"/>
                    <a:pt x="1" y="107"/>
                    <a:pt x="1" y="238"/>
                  </a:cubicBezTo>
                  <a:cubicBezTo>
                    <a:pt x="1" y="381"/>
                    <a:pt x="108" y="476"/>
                    <a:pt x="239" y="476"/>
                  </a:cubicBezTo>
                  <a:lnTo>
                    <a:pt x="2799" y="476"/>
                  </a:lnTo>
                  <a:cubicBezTo>
                    <a:pt x="2942" y="476"/>
                    <a:pt x="3037" y="381"/>
                    <a:pt x="3037" y="238"/>
                  </a:cubicBezTo>
                  <a:cubicBezTo>
                    <a:pt x="3037" y="107"/>
                    <a:pt x="2942" y="0"/>
                    <a:pt x="279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9160" bIns="291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0" name="Google Shape;336;p34"/>
            <p:cNvSpPr/>
            <p:nvPr/>
          </p:nvSpPr>
          <p:spPr>
            <a:xfrm>
              <a:off x="6698160" y="2112480"/>
              <a:ext cx="187560" cy="311040"/>
            </a:xfrm>
            <a:custGeom>
              <a:avLst/>
              <a:gdLst>
                <a:gd name="textAreaLeft" fmla="*/ 0 w 187560"/>
                <a:gd name="textAreaRight" fmla="*/ 187920 w 187560"/>
                <a:gd name="textAreaTop" fmla="*/ 0 h 311040"/>
                <a:gd name="textAreaBottom" fmla="*/ 311400 h 311040"/>
              </a:gdLst>
              <a:ahLst/>
              <a:rect l="textAreaLeft" t="textAreaTop" r="textAreaRight" b="textAreaBottom"/>
              <a:pathLst>
                <a:path w="1525" h="2525">
                  <a:moveTo>
                    <a:pt x="1268" y="0"/>
                  </a:moveTo>
                  <a:cubicBezTo>
                    <a:pt x="1206" y="0"/>
                    <a:pt x="1143" y="24"/>
                    <a:pt x="1096" y="72"/>
                  </a:cubicBezTo>
                  <a:lnTo>
                    <a:pt x="72" y="1096"/>
                  </a:lnTo>
                  <a:cubicBezTo>
                    <a:pt x="24" y="1143"/>
                    <a:pt x="0" y="1203"/>
                    <a:pt x="0" y="1262"/>
                  </a:cubicBezTo>
                  <a:cubicBezTo>
                    <a:pt x="0" y="1322"/>
                    <a:pt x="24" y="1381"/>
                    <a:pt x="72" y="1429"/>
                  </a:cubicBezTo>
                  <a:lnTo>
                    <a:pt x="1096" y="2453"/>
                  </a:lnTo>
                  <a:cubicBezTo>
                    <a:pt x="1143" y="2501"/>
                    <a:pt x="1203" y="2524"/>
                    <a:pt x="1262" y="2524"/>
                  </a:cubicBezTo>
                  <a:cubicBezTo>
                    <a:pt x="1322" y="2524"/>
                    <a:pt x="1381" y="2501"/>
                    <a:pt x="1429" y="2453"/>
                  </a:cubicBezTo>
                  <a:cubicBezTo>
                    <a:pt x="1524" y="2370"/>
                    <a:pt x="1524" y="2215"/>
                    <a:pt x="1441" y="2108"/>
                  </a:cubicBezTo>
                  <a:lnTo>
                    <a:pt x="596" y="1262"/>
                  </a:lnTo>
                  <a:lnTo>
                    <a:pt x="1441" y="417"/>
                  </a:lnTo>
                  <a:cubicBezTo>
                    <a:pt x="1524" y="322"/>
                    <a:pt x="1524" y="167"/>
                    <a:pt x="1441" y="72"/>
                  </a:cubicBezTo>
                  <a:cubicBezTo>
                    <a:pt x="1393" y="24"/>
                    <a:pt x="1331" y="0"/>
                    <a:pt x="126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1" name="Google Shape;337;p34"/>
            <p:cNvSpPr/>
            <p:nvPr/>
          </p:nvSpPr>
          <p:spPr>
            <a:xfrm>
              <a:off x="7154640" y="2111040"/>
              <a:ext cx="189000" cy="311040"/>
            </a:xfrm>
            <a:custGeom>
              <a:avLst/>
              <a:gdLst>
                <a:gd name="textAreaLeft" fmla="*/ 0 w 189000"/>
                <a:gd name="textAreaRight" fmla="*/ 189360 w 189000"/>
                <a:gd name="textAreaTop" fmla="*/ 0 h 311040"/>
                <a:gd name="textAreaBottom" fmla="*/ 311400 h 311040"/>
              </a:gdLst>
              <a:ahLst/>
              <a:rect l="textAreaLeft" t="textAreaTop" r="textAreaRight" b="textAreaBottom"/>
              <a:pathLst>
                <a:path w="1536" h="2525">
                  <a:moveTo>
                    <a:pt x="261" y="0"/>
                  </a:moveTo>
                  <a:cubicBezTo>
                    <a:pt x="197" y="0"/>
                    <a:pt x="131" y="24"/>
                    <a:pt x="83" y="72"/>
                  </a:cubicBezTo>
                  <a:cubicBezTo>
                    <a:pt x="0" y="155"/>
                    <a:pt x="0" y="322"/>
                    <a:pt x="83" y="417"/>
                  </a:cubicBezTo>
                  <a:lnTo>
                    <a:pt x="941" y="1262"/>
                  </a:lnTo>
                  <a:lnTo>
                    <a:pt x="83" y="2108"/>
                  </a:lnTo>
                  <a:cubicBezTo>
                    <a:pt x="0" y="2203"/>
                    <a:pt x="0" y="2358"/>
                    <a:pt x="83" y="2453"/>
                  </a:cubicBezTo>
                  <a:cubicBezTo>
                    <a:pt x="131" y="2501"/>
                    <a:pt x="191" y="2525"/>
                    <a:pt x="250" y="2525"/>
                  </a:cubicBezTo>
                  <a:cubicBezTo>
                    <a:pt x="310" y="2525"/>
                    <a:pt x="369" y="2501"/>
                    <a:pt x="417" y="2453"/>
                  </a:cubicBezTo>
                  <a:lnTo>
                    <a:pt x="1441" y="1429"/>
                  </a:lnTo>
                  <a:cubicBezTo>
                    <a:pt x="1488" y="1382"/>
                    <a:pt x="1512" y="1322"/>
                    <a:pt x="1512" y="1262"/>
                  </a:cubicBezTo>
                  <a:cubicBezTo>
                    <a:pt x="1536" y="1203"/>
                    <a:pt x="1500" y="1143"/>
                    <a:pt x="1453" y="1096"/>
                  </a:cubicBezTo>
                  <a:lnTo>
                    <a:pt x="429" y="72"/>
                  </a:lnTo>
                  <a:cubicBezTo>
                    <a:pt x="387" y="24"/>
                    <a:pt x="325" y="0"/>
                    <a:pt x="26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2" name="Google Shape;338;p34"/>
            <p:cNvSpPr/>
            <p:nvPr/>
          </p:nvSpPr>
          <p:spPr>
            <a:xfrm>
              <a:off x="6927120" y="2073960"/>
              <a:ext cx="189000" cy="386280"/>
            </a:xfrm>
            <a:custGeom>
              <a:avLst/>
              <a:gdLst>
                <a:gd name="textAreaLeft" fmla="*/ 0 w 189000"/>
                <a:gd name="textAreaRight" fmla="*/ 189360 w 189000"/>
                <a:gd name="textAreaTop" fmla="*/ 0 h 386280"/>
                <a:gd name="textAreaBottom" fmla="*/ 386640 h 386280"/>
              </a:gdLst>
              <a:ahLst/>
              <a:rect l="textAreaLeft" t="textAreaTop" r="textAreaRight" b="textAreaBottom"/>
              <a:pathLst>
                <a:path w="1537" h="3137">
                  <a:moveTo>
                    <a:pt x="1249" y="0"/>
                  </a:moveTo>
                  <a:cubicBezTo>
                    <a:pt x="1154" y="0"/>
                    <a:pt x="1061" y="59"/>
                    <a:pt x="1025" y="160"/>
                  </a:cubicBezTo>
                  <a:lnTo>
                    <a:pt x="48" y="2815"/>
                  </a:lnTo>
                  <a:cubicBezTo>
                    <a:pt x="1" y="2934"/>
                    <a:pt x="60" y="3077"/>
                    <a:pt x="191" y="3124"/>
                  </a:cubicBezTo>
                  <a:cubicBezTo>
                    <a:pt x="227" y="3136"/>
                    <a:pt x="251" y="3136"/>
                    <a:pt x="286" y="3136"/>
                  </a:cubicBezTo>
                  <a:cubicBezTo>
                    <a:pt x="382" y="3136"/>
                    <a:pt x="477" y="3077"/>
                    <a:pt x="501" y="2981"/>
                  </a:cubicBezTo>
                  <a:lnTo>
                    <a:pt x="1489" y="326"/>
                  </a:lnTo>
                  <a:cubicBezTo>
                    <a:pt x="1537" y="207"/>
                    <a:pt x="1477" y="64"/>
                    <a:pt x="1334" y="17"/>
                  </a:cubicBezTo>
                  <a:cubicBezTo>
                    <a:pt x="1307" y="6"/>
                    <a:pt x="127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s-AR" sz="14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343;p35"/>
          <p:cNvSpPr/>
          <p:nvPr/>
        </p:nvSpPr>
        <p:spPr>
          <a:xfrm>
            <a:off x="1014840" y="913680"/>
            <a:ext cx="7323120" cy="88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CONSIGNA 1: Elaborar un diagrama de clases, con las siguientes clases: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3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Ejercicio Herencia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5" name="Google Shape;345;p35"/>
          <p:cNvSpPr/>
          <p:nvPr/>
        </p:nvSpPr>
        <p:spPr>
          <a:xfrm>
            <a:off x="4856040" y="1973520"/>
            <a:ext cx="2999520" cy="22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5)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Titular de cátedra. 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6)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Docente adjunto.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7)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Facultad.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8)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Cátedra.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6" name="Google Shape;346;p35"/>
          <p:cNvSpPr/>
          <p:nvPr/>
        </p:nvSpPr>
        <p:spPr>
          <a:xfrm>
            <a:off x="1577160" y="1973520"/>
            <a:ext cx="2999520" cy="15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1)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Alumno. 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2)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Docente. 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3)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Ayudante. 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4)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Persona. 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7" name="Google Shape;347;p35"/>
          <p:cNvSpPr/>
          <p:nvPr/>
        </p:nvSpPr>
        <p:spPr>
          <a:xfrm>
            <a:off x="1014840" y="3877920"/>
            <a:ext cx="7323120" cy="8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Pista: Un modelo PERFECTO de esta consigna estaría resuelto implementando composición y herencia.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3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Ejercicio Herencia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Google Shape;353;p36"/>
          <p:cNvSpPr/>
          <p:nvPr/>
        </p:nvSpPr>
        <p:spPr>
          <a:xfrm>
            <a:off x="1014840" y="990000"/>
            <a:ext cx="732312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CONSIGNA 2: ubique los atributos que considere importantes en su clase correspondiente, teniendo en cuenta que: 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A)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De cada individuo se quiere saber nombre,edad y nacionalidad. 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B)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De todos los que cursen en la facultad se quiere saber su legajo.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3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Ejercicio Herencia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1" name="Google Shape;359;p37"/>
          <p:cNvSpPr/>
          <p:nvPr/>
        </p:nvSpPr>
        <p:spPr>
          <a:xfrm>
            <a:off x="1014840" y="990000"/>
            <a:ext cx="732312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CONSIGNA 2: ubique los atributos que considere importantes en su clase correspondiente, teniendo en cuenta que: 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C)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De los docentes el nombre de la materia que dictan y de su obra social, si están a cargo de la materia se quiere saber el año en que se les dio el cargo y si no están a cargo de la materia se quiere saber el nombre del docente a cargo de esa materia. que dictan. 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D)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De los ayudantes se quiere saber la categoría (1,2) a la que pertenecen, y si son remunerados o no. 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720000" y="158400"/>
            <a:ext cx="77036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300" strike="noStrike" u="none">
                <a:solidFill>
                  <a:schemeClr val="accent3"/>
                </a:solidFill>
                <a:uFillTx/>
                <a:latin typeface="Quantico"/>
                <a:ea typeface="Quantico"/>
              </a:rPr>
              <a:t>&lt;/</a:t>
            </a:r>
            <a:r>
              <a:rPr b="0" lang="en" sz="33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Ejercicio Herencia</a:t>
            </a:r>
            <a:endParaRPr b="0" lang="es-AR" sz="3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3" name="Google Shape;365;p38"/>
          <p:cNvSpPr/>
          <p:nvPr/>
        </p:nvSpPr>
        <p:spPr>
          <a:xfrm>
            <a:off x="1014840" y="990000"/>
            <a:ext cx="7323120" cy="8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CONSIGNA 2: ubique los atributos que considere importantes en su clase correspondiente, teniendo en cuenta que: 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endParaRPr b="0" lang="es-AR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E)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Por cada cátedra, interesa saber: código, nombre, carga horaria, carrera, docente a cargo, tipo (Curricular o Electiva) y nivel al que pertenece (1,2,3,4 o 5)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15000"/>
              </a:lnSpc>
              <a:tabLst>
                <a:tab algn="l" pos="0"/>
              </a:tabLst>
            </a:pP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F)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	</a:t>
            </a:r>
            <a:r>
              <a:rPr b="0" lang="en" sz="2000" strike="noStrike" u="none">
                <a:solidFill>
                  <a:schemeClr val="dk1"/>
                </a:solidFill>
                <a:uFillTx/>
                <a:latin typeface="Quantico"/>
                <a:ea typeface="Quantico"/>
              </a:rPr>
              <a:t>De la facultad, es de interés saber el nombre de la universidad, y su localidad.</a:t>
            </a:r>
            <a:endParaRPr b="0" lang="es-AR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New Operating System Design Pitch Deck  Infographics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LibreOffice/24.8.7.2$Linux_X86_64 LibreOffice_project/480$Build-2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es-AR</dc:language>
  <cp:lastModifiedBy/>
  <dcterms:modified xsi:type="dcterms:W3CDTF">2026-09-30T16:17:45Z</dcterms:modified>
  <cp:revision>2</cp:revision>
  <dc:subject/>
  <dc:title/>
</cp:coreProperties>
</file>